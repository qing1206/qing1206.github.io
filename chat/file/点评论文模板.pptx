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57" r:id="rId3"/>
    <p:sldId id="319" r:id="rId4"/>
    <p:sldId id="327" r:id="rId5"/>
    <p:sldId id="328" r:id="rId6"/>
    <p:sldId id="321" r:id="rId7"/>
    <p:sldId id="320" r:id="rId8"/>
    <p:sldId id="268"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D8E9"/>
    <a:srgbClr val="C38BBF"/>
    <a:srgbClr val="E6CFE6"/>
    <a:srgbClr val="990099"/>
    <a:srgbClr val="8C028F"/>
    <a:srgbClr val="FFFFFF"/>
    <a:srgbClr val="6A005F"/>
    <a:srgbClr val="A500CC"/>
    <a:srgbClr val="900090"/>
    <a:srgbClr val="973E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40" autoAdjust="0"/>
    <p:restoredTop sz="70047" autoAdjust="0"/>
  </p:normalViewPr>
  <p:slideViewPr>
    <p:cSldViewPr snapToGrid="0">
      <p:cViewPr varScale="1">
        <p:scale>
          <a:sx n="60" d="100"/>
          <a:sy n="60" d="100"/>
        </p:scale>
        <p:origin x="975" y="42"/>
      </p:cViewPr>
      <p:guideLst/>
    </p:cSldViewPr>
  </p:slideViewPr>
  <p:notesTextViewPr>
    <p:cViewPr>
      <p:scale>
        <a:sx n="3" d="2"/>
        <a:sy n="3" d="2"/>
      </p:scale>
      <p:origin x="0" y="-2016"/>
    </p:cViewPr>
  </p:notesTextViewPr>
  <p:notesViewPr>
    <p:cSldViewPr snapToGrid="0">
      <p:cViewPr varScale="1">
        <p:scale>
          <a:sx n="65" d="100"/>
          <a:sy n="65" d="100"/>
        </p:scale>
        <p:origin x="1479" y="5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9330AB5-7CB1-00FB-1D94-9A0E417735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930AA59-1948-FD4C-3811-A50D0EDFD3D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170E71-35F2-4181-A2D3-74900BD847E1}" type="datetimeFigureOut">
              <a:rPr lang="zh-CN" altLang="en-US" smtClean="0"/>
              <a:t>2024/5/30</a:t>
            </a:fld>
            <a:endParaRPr lang="zh-CN" altLang="en-US"/>
          </a:p>
        </p:txBody>
      </p:sp>
      <p:sp>
        <p:nvSpPr>
          <p:cNvPr id="4" name="页脚占位符 3">
            <a:extLst>
              <a:ext uri="{FF2B5EF4-FFF2-40B4-BE49-F238E27FC236}">
                <a16:creationId xmlns:a16="http://schemas.microsoft.com/office/drawing/2014/main" id="{ABD33A50-9FE0-65BD-84FC-4E0F23FBDE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7FDE9E1-0F9F-E660-1BB1-BD80705B23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11345C-0BC5-4687-A5AF-48620B925373}" type="slidenum">
              <a:rPr lang="zh-CN" altLang="en-US" smtClean="0"/>
              <a:t>‹#›</a:t>
            </a:fld>
            <a:endParaRPr lang="zh-CN" altLang="en-US"/>
          </a:p>
        </p:txBody>
      </p:sp>
    </p:spTree>
    <p:extLst>
      <p:ext uri="{BB962C8B-B14F-4D97-AF65-F5344CB8AC3E}">
        <p14:creationId xmlns:p14="http://schemas.microsoft.com/office/powerpoint/2010/main" val="26923606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4417B2-7604-4654-ADF7-2F6C3A8140D7}" type="datetimeFigureOut">
              <a:rPr lang="zh-CN" altLang="en-US" smtClean="0"/>
              <a:t>2024/5/30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6B5468-08B2-4719-95F2-09388674441C}" type="slidenum">
              <a:rPr lang="zh-CN" altLang="en-US" smtClean="0"/>
              <a:t>‹#›</a:t>
            </a:fld>
            <a:endParaRPr lang="zh-CN" altLang="en-US"/>
          </a:p>
        </p:txBody>
      </p:sp>
    </p:spTree>
    <p:extLst>
      <p:ext uri="{BB962C8B-B14F-4D97-AF65-F5344CB8AC3E}">
        <p14:creationId xmlns:p14="http://schemas.microsoft.com/office/powerpoint/2010/main" val="113915587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1</a:t>
            </a:fld>
            <a:endParaRPr lang="zh-CN" altLang="en-US"/>
          </a:p>
        </p:txBody>
      </p:sp>
    </p:spTree>
    <p:extLst>
      <p:ext uri="{BB962C8B-B14F-4D97-AF65-F5344CB8AC3E}">
        <p14:creationId xmlns:p14="http://schemas.microsoft.com/office/powerpoint/2010/main" val="3199734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2</a:t>
            </a:fld>
            <a:endParaRPr lang="zh-CN" altLang="en-US"/>
          </a:p>
        </p:txBody>
      </p:sp>
    </p:spTree>
    <p:extLst>
      <p:ext uri="{BB962C8B-B14F-4D97-AF65-F5344CB8AC3E}">
        <p14:creationId xmlns:p14="http://schemas.microsoft.com/office/powerpoint/2010/main" val="3278797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首先，本文暗含的前提假设是否成立仍有待考察，即审计师真的会关注</a:t>
            </a:r>
            <a:r>
              <a:rPr lang="zh-CN" altLang="en-US" dirty="0">
                <a:solidFill>
                  <a:schemeClr val="tx1"/>
                </a:solidFill>
              </a:rPr>
              <a:t>互动易和</a:t>
            </a:r>
            <a:r>
              <a:rPr lang="en-US" altLang="zh-CN" dirty="0">
                <a:solidFill>
                  <a:schemeClr val="tx1"/>
                </a:solidFill>
              </a:rPr>
              <a:t>e</a:t>
            </a:r>
            <a:r>
              <a:rPr lang="zh-CN" altLang="en-US" dirty="0">
                <a:solidFill>
                  <a:schemeClr val="tx1"/>
                </a:solidFill>
              </a:rPr>
              <a:t>互动上投资者的信息需求吗</a:t>
            </a:r>
            <a:r>
              <a:rPr lang="zh-CN" altLang="en-US" dirty="0"/>
              <a:t>，正如文章理论分析部分所述，尽管审计师可以通过互动易与</a:t>
            </a:r>
            <a:r>
              <a:rPr lang="en-US" altLang="zh-CN" dirty="0"/>
              <a:t>e</a:t>
            </a:r>
            <a:r>
              <a:rPr lang="zh-CN" altLang="en-US" dirty="0"/>
              <a:t>互动平台了解投资者的信息需求，但是他们其实是并没有足够的动机的。</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虽然文章的基准回归结果显示，</a:t>
            </a:r>
            <a:r>
              <a:rPr lang="zh-CN" altLang="en-US" dirty="0">
                <a:solidFill>
                  <a:srgbClr val="000000"/>
                </a:solidFill>
                <a:latin typeface="Times New Roman" panose="02020603050405020304" pitchFamily="18" charset="0"/>
              </a:rPr>
              <a:t>关键审计事项与投资者问询的文本相似度与投资者的问询强度存在显著的正向关系</a:t>
            </a:r>
            <a:r>
              <a:rPr lang="zh-CN" altLang="en-US" dirty="0"/>
              <a:t>，拒绝了原假设，但是这其实是并不能推导出，或者说在一定程度上不能直接推导出审计师的确会关注互动易和</a:t>
            </a:r>
            <a:r>
              <a:rPr lang="en-US" altLang="zh-CN" dirty="0">
                <a:solidFill>
                  <a:srgbClr val="000000"/>
                </a:solidFill>
                <a:latin typeface="Times New Roman" panose="02020603050405020304" pitchFamily="18" charset="0"/>
              </a:rPr>
              <a:t>e</a:t>
            </a:r>
            <a:r>
              <a:rPr lang="zh-CN" altLang="en-US" dirty="0">
                <a:solidFill>
                  <a:srgbClr val="000000"/>
                </a:solidFill>
                <a:latin typeface="Times New Roman" panose="02020603050405020304" pitchFamily="18" charset="0"/>
              </a:rPr>
              <a:t>互动上投资者信息需求。</a:t>
            </a:r>
            <a:endParaRPr lang="en-US" altLang="zh-CN" dirty="0">
              <a:solidFill>
                <a:srgbClr val="000000"/>
              </a:solidFill>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000000"/>
              </a:solidFill>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Times New Roman" panose="02020603050405020304" pitchFamily="18" charset="0"/>
              </a:rPr>
              <a:t>从下面这张图我们就可以很清楚的发现这一推导的逻辑漏洞，如果说审计师的确关注了互动易和</a:t>
            </a:r>
            <a:r>
              <a:rPr lang="en-US" altLang="zh-CN" dirty="0">
                <a:solidFill>
                  <a:srgbClr val="000000"/>
                </a:solidFill>
                <a:latin typeface="Times New Roman" panose="02020603050405020304" pitchFamily="18" charset="0"/>
              </a:rPr>
              <a:t>e</a:t>
            </a:r>
            <a:r>
              <a:rPr lang="zh-CN" altLang="en-US" dirty="0">
                <a:solidFill>
                  <a:srgbClr val="000000"/>
                </a:solidFill>
                <a:latin typeface="Times New Roman" panose="02020603050405020304" pitchFamily="18" charset="0"/>
              </a:rPr>
              <a:t>互动上投资者的信息需求，我们的确可以预期文本相似度与投资者的问询强度之间存在显著的正向关系，也就是说下面的箭头是成立的，但反过来推导，这一箭头似乎并不成立，或者说有点间接。</a:t>
            </a:r>
            <a:endParaRPr lang="en-US" altLang="zh-CN" dirty="0"/>
          </a:p>
          <a:p>
            <a:endParaRPr lang="en-US" altLang="zh-CN" dirty="0"/>
          </a:p>
          <a:p>
            <a:r>
              <a:rPr lang="zh-CN" altLang="en-US" dirty="0"/>
              <a:t>鉴于此，文章应该回到现实，</a:t>
            </a:r>
            <a:r>
              <a:rPr lang="zh-CN" altLang="en-US" b="0" dirty="0"/>
              <a:t>去问问相关从业人员</a:t>
            </a:r>
            <a:r>
              <a:rPr lang="zh-CN" altLang="en-US" b="0" dirty="0">
                <a:solidFill>
                  <a:schemeClr val="bg2"/>
                </a:solidFill>
              </a:rPr>
              <a:t>是否会关注互动易和</a:t>
            </a:r>
            <a:r>
              <a:rPr lang="en-US" altLang="zh-CN" b="0" dirty="0">
                <a:solidFill>
                  <a:schemeClr val="bg2"/>
                </a:solidFill>
              </a:rPr>
              <a:t>e</a:t>
            </a:r>
            <a:r>
              <a:rPr lang="zh-CN" altLang="en-US" b="0" dirty="0">
                <a:solidFill>
                  <a:schemeClr val="bg2"/>
                </a:solidFill>
              </a:rPr>
              <a:t>互动上投资者的信息需求？</a:t>
            </a:r>
            <a:endParaRPr lang="en-US" altLang="zh-CN" b="0" dirty="0"/>
          </a:p>
          <a:p>
            <a:endParaRPr lang="en-US" altLang="zh-CN" dirty="0"/>
          </a:p>
          <a:p>
            <a:r>
              <a:rPr lang="zh-CN" altLang="en-US" dirty="0"/>
              <a:t>当然，作者在文章中也试图回到现实回答这个问题，但是作者仅仅对一位审计经理进行了采访，其实是并不具有代表性与推广性的，因此，如果可以的话，文章或许可以补充对审计师的采访部分，同时注意确保采访的有效性。</a:t>
            </a:r>
          </a:p>
        </p:txBody>
      </p:sp>
      <p:sp>
        <p:nvSpPr>
          <p:cNvPr id="4" name="灯片编号占位符 3"/>
          <p:cNvSpPr>
            <a:spLocks noGrp="1"/>
          </p:cNvSpPr>
          <p:nvPr>
            <p:ph type="sldNum" sz="quarter" idx="5"/>
          </p:nvPr>
        </p:nvSpPr>
        <p:spPr/>
        <p:txBody>
          <a:bodyPr/>
          <a:lstStyle/>
          <a:p>
            <a:fld id="{9A6B5468-08B2-4719-95F2-09388674441C}" type="slidenum">
              <a:rPr lang="zh-CN" altLang="en-US" smtClean="0"/>
              <a:t>3</a:t>
            </a:fld>
            <a:endParaRPr lang="zh-CN" altLang="en-US"/>
          </a:p>
        </p:txBody>
      </p:sp>
    </p:spTree>
    <p:extLst>
      <p:ext uri="{BB962C8B-B14F-4D97-AF65-F5344CB8AC3E}">
        <p14:creationId xmlns:p14="http://schemas.microsoft.com/office/powerpoint/2010/main" val="3317396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除此之外，我们还需要思考用文本相似度来度量审计师回应这一构念的合理性，首先，这一构念蕴含着一个非常重要的前提，那就是目前我国审计报告中关键审计事项是有信息含量的，存在公司特质信息的，只有建立在这个假设上，我们才能说文本相似度越高，审计师对投资者的信息需求进行了回应。</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但是参加年报审计的人大多知道，审计报告的模板化现象是很严重的，关键审计事项也不例外。</a:t>
            </a:r>
            <a:endParaRPr lang="en-US" altLang="zh-CN" dirty="0"/>
          </a:p>
          <a:p>
            <a:endParaRPr lang="en-US" altLang="zh-CN" dirty="0"/>
          </a:p>
          <a:p>
            <a:r>
              <a:rPr lang="zh-CN" altLang="en-US" dirty="0"/>
              <a:t>那文本相似度的这个相似究竟是什么相似。文章能否进一步打开相似的黑箱，又或者说，是否需要对原始文本进行加工剔除模板化较严重的描述后，再次计算余弦相似度？</a:t>
            </a:r>
            <a:endParaRPr lang="en-US" altLang="zh-CN" dirty="0"/>
          </a:p>
          <a:p>
            <a:endParaRPr lang="en-US" altLang="zh-CN" dirty="0"/>
          </a:p>
          <a:p>
            <a:r>
              <a:rPr lang="zh-CN" altLang="en-US" dirty="0"/>
              <a:t>此外，即使关键审计事项具有信息含量，用文本相似度来衡量审计师对于投资者信息需求的回应仍然存在着一个比较重要的内生性问题，因为这个相似度并不一定是审计师主动回应投资者需求的行为，而是因为某些公司某年度发生了比较重要的事情，审计师与投资者同时关注，从而提高了文本相似度，虽然文章在稳健性部分从风险指标角度区别了不同风险的公司并进行了分组回归，但是重大不等同于有风险，如果可以的话，可以识别公司利好的重大事件，进一步排除共同关注的影响。</a:t>
            </a:r>
            <a:endParaRPr lang="en-US" altLang="zh-CN" dirty="0"/>
          </a:p>
          <a:p>
            <a:endParaRPr lang="en-US" altLang="zh-CN" dirty="0"/>
          </a:p>
          <a:p>
            <a:endParaRPr lang="en-US" altLang="zh-CN" dirty="0"/>
          </a:p>
          <a:p>
            <a:pPr>
              <a:lnSpc>
                <a:spcPct val="125000"/>
              </a:lnSpc>
            </a:pPr>
            <a:r>
              <a:rPr lang="zh-CN" altLang="en-US" dirty="0"/>
              <a:t>关键审计事项，是指注册会计师根据职业判断认为</a:t>
            </a:r>
            <a:r>
              <a:rPr lang="zh-CN" altLang="en-US" b="1" dirty="0">
                <a:solidFill>
                  <a:schemeClr val="accent1"/>
                </a:solidFill>
              </a:rPr>
              <a:t>对本期财务报表审计最为重要</a:t>
            </a:r>
            <a:r>
              <a:rPr lang="zh-CN" altLang="en-US" dirty="0"/>
              <a:t>的事项。</a:t>
            </a:r>
            <a:endParaRPr lang="en-US" altLang="zh-CN" dirty="0"/>
          </a:p>
          <a:p>
            <a:pPr>
              <a:lnSpc>
                <a:spcPct val="125000"/>
              </a:lnSpc>
            </a:pPr>
            <a:r>
              <a:rPr lang="zh-CN" altLang="en-US" dirty="0"/>
              <a:t>注册会计师应当从</a:t>
            </a:r>
            <a:r>
              <a:rPr lang="zh-CN" altLang="en-US" b="1" dirty="0">
                <a:solidFill>
                  <a:schemeClr val="accent1"/>
                </a:solidFill>
              </a:rPr>
              <a:t>与治理层沟通过的事项</a:t>
            </a:r>
            <a:r>
              <a:rPr lang="zh-CN" altLang="en-US" dirty="0"/>
              <a:t>中确定在执行审计工作时</a:t>
            </a:r>
            <a:r>
              <a:rPr lang="zh-CN" altLang="en-US" b="1" dirty="0">
                <a:solidFill>
                  <a:schemeClr val="accent1"/>
                </a:solidFill>
              </a:rPr>
              <a:t>重点关注</a:t>
            </a:r>
            <a:r>
              <a:rPr lang="zh-CN" altLang="en-US" dirty="0"/>
              <a:t>过的事项。在确定时，注册会计师应当考虑下列方面： </a:t>
            </a:r>
            <a:endParaRPr lang="en-US" altLang="zh-CN" dirty="0"/>
          </a:p>
          <a:p>
            <a:pPr>
              <a:lnSpc>
                <a:spcPct val="125000"/>
              </a:lnSpc>
            </a:pPr>
            <a:r>
              <a:rPr lang="zh-CN" altLang="en-US" dirty="0"/>
              <a:t>（一）按照</a:t>
            </a:r>
            <a:r>
              <a:rPr lang="en-US" altLang="zh-CN" dirty="0"/>
              <a:t>《</a:t>
            </a:r>
            <a:r>
              <a:rPr lang="zh-CN" altLang="en-US" dirty="0"/>
              <a:t>中国注册会计师审计准则第</a:t>
            </a:r>
            <a:r>
              <a:rPr lang="en-US" altLang="zh-CN" dirty="0"/>
              <a:t>1211</a:t>
            </a:r>
            <a:r>
              <a:rPr lang="zh-CN" altLang="en-US" dirty="0"/>
              <a:t>号</a:t>
            </a:r>
            <a:r>
              <a:rPr lang="en-US" altLang="zh-CN" dirty="0"/>
              <a:t>——</a:t>
            </a:r>
            <a:r>
              <a:rPr lang="zh-CN" altLang="en-US" dirty="0"/>
              <a:t>通过了解 被审计单位及其环境识别和评估重大错报风险</a:t>
            </a:r>
            <a:r>
              <a:rPr lang="en-US" altLang="zh-CN" dirty="0"/>
              <a:t>》</a:t>
            </a:r>
            <a:r>
              <a:rPr lang="zh-CN" altLang="en-US" dirty="0"/>
              <a:t>的规定，评估的</a:t>
            </a:r>
            <a:r>
              <a:rPr lang="zh-CN" altLang="en-US" b="1" dirty="0">
                <a:solidFill>
                  <a:schemeClr val="accent1"/>
                </a:solidFill>
              </a:rPr>
              <a:t>重大错报风险较高的领域或识别出的特别风险</a:t>
            </a:r>
            <a:r>
              <a:rPr lang="zh-CN" altLang="en-US" dirty="0"/>
              <a:t>； </a:t>
            </a:r>
            <a:endParaRPr lang="en-US" altLang="zh-CN" dirty="0"/>
          </a:p>
          <a:p>
            <a:pPr>
              <a:lnSpc>
                <a:spcPct val="125000"/>
              </a:lnSpc>
            </a:pPr>
            <a:r>
              <a:rPr lang="zh-CN" altLang="en-US" dirty="0"/>
              <a:t>（二）与财务报表中</a:t>
            </a:r>
            <a:r>
              <a:rPr lang="zh-CN" altLang="en-US" b="1" dirty="0">
                <a:solidFill>
                  <a:schemeClr val="accent1"/>
                </a:solidFill>
              </a:rPr>
              <a:t>涉及重大管理层判断</a:t>
            </a:r>
            <a:r>
              <a:rPr lang="zh-CN" altLang="en-US" dirty="0"/>
              <a:t>（包括被认为具有高度估计不确定性的会计估计）的领域相关的重大审计判断；</a:t>
            </a:r>
            <a:endParaRPr lang="en-US" altLang="zh-CN" dirty="0"/>
          </a:p>
          <a:p>
            <a:pPr>
              <a:lnSpc>
                <a:spcPct val="125000"/>
              </a:lnSpc>
            </a:pPr>
            <a:r>
              <a:rPr lang="zh-CN" altLang="en-US" dirty="0"/>
              <a:t>（三）本期</a:t>
            </a:r>
            <a:r>
              <a:rPr lang="zh-CN" altLang="en-US" b="1" dirty="0">
                <a:solidFill>
                  <a:schemeClr val="accent1"/>
                </a:solidFill>
              </a:rPr>
              <a:t>重大交易或事项</a:t>
            </a:r>
            <a:r>
              <a:rPr lang="zh-CN" altLang="en-US" dirty="0"/>
              <a:t>对审计的影响。 </a:t>
            </a:r>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4</a:t>
            </a:fld>
            <a:endParaRPr lang="zh-CN" altLang="en-US"/>
          </a:p>
        </p:txBody>
      </p:sp>
    </p:spTree>
    <p:extLst>
      <p:ext uri="{BB962C8B-B14F-4D97-AF65-F5344CB8AC3E}">
        <p14:creationId xmlns:p14="http://schemas.microsoft.com/office/powerpoint/2010/main" val="411051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r>
              <a:rPr lang="zh-CN" altLang="en-US" dirty="0"/>
              <a:t>此外，我还有一点点小小的困惑就是，文章是不是存在信息不对称的混用。</a:t>
            </a:r>
            <a:endParaRPr lang="en-US" altLang="zh-CN" dirty="0"/>
          </a:p>
          <a:p>
            <a:pPr>
              <a:lnSpc>
                <a:spcPct val="125000"/>
              </a:lnSpc>
            </a:pPr>
            <a:endParaRPr lang="en-US" altLang="zh-CN" dirty="0"/>
          </a:p>
          <a:p>
            <a:pPr>
              <a:lnSpc>
                <a:spcPct val="125000"/>
              </a:lnSpc>
            </a:pPr>
            <a:r>
              <a:rPr lang="zh-CN" altLang="en-US" dirty="0"/>
              <a:t>审计师通过关键审计事项回应投资者的信息需求降低的是投资者与审计师之间的信息不对称性程度，而后续衡量信息不对称性的两个指标都是衡量的投资者与管理层之间的信息不对称性程度。</a:t>
            </a:r>
            <a:endParaRPr lang="en-US" altLang="zh-CN" dirty="0"/>
          </a:p>
          <a:p>
            <a:pPr>
              <a:lnSpc>
                <a:spcPct val="125000"/>
              </a:lnSpc>
            </a:pPr>
            <a:endParaRPr lang="en-US" altLang="zh-CN" dirty="0"/>
          </a:p>
          <a:p>
            <a:pPr>
              <a:lnSpc>
                <a:spcPct val="125000"/>
              </a:lnSpc>
            </a:pPr>
            <a:r>
              <a:rPr lang="zh-CN" altLang="en-US" dirty="0"/>
              <a:t>文章在第</a:t>
            </a:r>
            <a:r>
              <a:rPr lang="en-US" altLang="zh-CN" dirty="0"/>
              <a:t>2</a:t>
            </a:r>
            <a:r>
              <a:rPr lang="zh-CN" altLang="en-US" dirty="0"/>
              <a:t>个链条的时候理论分析的比较少，所以我看论文的时候想的是难道这里是想说更高的文本相似度也同时降低了投资者与管理层之间的信息不对称性程度吗</a:t>
            </a:r>
            <a:endParaRPr lang="en-US" altLang="zh-CN" dirty="0"/>
          </a:p>
          <a:p>
            <a:pPr>
              <a:lnSpc>
                <a:spcPct val="125000"/>
              </a:lnSpc>
            </a:pPr>
            <a:endParaRPr lang="en-US" altLang="zh-CN" dirty="0"/>
          </a:p>
          <a:p>
            <a:pPr>
              <a:lnSpc>
                <a:spcPct val="125000"/>
              </a:lnSpc>
            </a:pPr>
            <a:r>
              <a:rPr lang="zh-CN" altLang="en-US" dirty="0"/>
              <a:t>但是关键审计事项里面的信息来源大多是引用的是已经披露在公司年报里面的信息，且审计师明确说了不对该部分事项单独发表审计意见</a:t>
            </a:r>
            <a:endParaRPr lang="en-US" altLang="zh-CN" dirty="0"/>
          </a:p>
          <a:p>
            <a:pPr>
              <a:lnSpc>
                <a:spcPct val="125000"/>
              </a:lnSpc>
            </a:pPr>
            <a:endParaRPr lang="en-US" altLang="zh-CN" dirty="0"/>
          </a:p>
          <a:p>
            <a:pPr>
              <a:lnSpc>
                <a:spcPct val="125000"/>
              </a:lnSpc>
            </a:pPr>
            <a:r>
              <a:rPr lang="zh-CN" altLang="en-US" dirty="0"/>
              <a:t>并且文章又说第二个链条的检验可以再次证明用文本分析度这一指标衡量审计师期望差距是合理的，投资者与审计师的信息不对称性是存在的，所以说，作者似乎并没有构建这样子的一个逻辑链条。就论文来看，这里的信息不对称其实本意是想说是投资者与审计师的信息不对称吗。</a:t>
            </a:r>
            <a:endParaRPr lang="en-US" altLang="zh-CN" dirty="0"/>
          </a:p>
          <a:p>
            <a:pPr>
              <a:lnSpc>
                <a:spcPct val="125000"/>
              </a:lnSpc>
            </a:pPr>
            <a:endParaRPr lang="en-US" altLang="zh-CN" dirty="0"/>
          </a:p>
          <a:p>
            <a:pPr>
              <a:lnSpc>
                <a:spcPct val="125000"/>
              </a:lnSpc>
            </a:pPr>
            <a:r>
              <a:rPr lang="zh-CN" altLang="en-US" dirty="0"/>
              <a:t>但是作者又在稳健性检验的时候，试图排除公司的信息披露对于信息不对称性影响的时候，好像又是强调的是投资者与管理层之间的信息不对称。</a:t>
            </a:r>
            <a:endParaRPr lang="en-US" altLang="zh-CN" dirty="0"/>
          </a:p>
          <a:p>
            <a:pPr>
              <a:lnSpc>
                <a:spcPct val="125000"/>
              </a:lnSpc>
            </a:pPr>
            <a:endParaRPr lang="en-US" altLang="zh-CN" dirty="0"/>
          </a:p>
          <a:p>
            <a:pPr>
              <a:lnSpc>
                <a:spcPct val="125000"/>
              </a:lnSpc>
            </a:pPr>
            <a:r>
              <a:rPr lang="zh-CN" altLang="en-US" dirty="0"/>
              <a:t>然后就这个稳健性检验来说，我也有点小小的疑问，那就是试图不滞后</a:t>
            </a:r>
            <a:r>
              <a:rPr lang="en-US" altLang="zh-CN" dirty="0"/>
              <a:t>y</a:t>
            </a:r>
            <a:r>
              <a:rPr lang="zh-CN" altLang="en-US" dirty="0"/>
              <a:t>变量，通过看当期的文本相似度对当期的信息不对称的影响，来论证不是公司的信息披露降低了这一种不对称性的逻辑视乎也有点奇怪，因为当期的文本相似度得等到来年的</a:t>
            </a:r>
            <a:r>
              <a:rPr lang="en-US" altLang="zh-CN" dirty="0"/>
              <a:t>4</a:t>
            </a:r>
            <a:r>
              <a:rPr lang="zh-CN" altLang="en-US" dirty="0"/>
              <a:t>月份审计报告报出后，投资者才会知道审计师有没有回应他的信息需求，也就是说，从逻辑上来讲，当期的文本相似度一定是不会降低当期的信息不对称的，系数当然不显著，但是这个怎么能够排除不是公司信息披露而是审计师的回应降低了下一期的信息部队称呢，就是感觉有点奇怪。</a:t>
            </a: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5</a:t>
            </a:fld>
            <a:endParaRPr lang="zh-CN" altLang="en-US"/>
          </a:p>
        </p:txBody>
      </p:sp>
    </p:spTree>
    <p:extLst>
      <p:ext uri="{BB962C8B-B14F-4D97-AF65-F5344CB8AC3E}">
        <p14:creationId xmlns:p14="http://schemas.microsoft.com/office/powerpoint/2010/main" val="2313980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除此之外，文章还有一些细枝末节的问题。比如说多次引用</a:t>
            </a:r>
            <a:r>
              <a:rPr lang="en-US" altLang="zh-CN" dirty="0" err="1"/>
              <a:t>pcaob</a:t>
            </a:r>
            <a:r>
              <a:rPr lang="zh-CN" altLang="en-US" dirty="0"/>
              <a:t>的发言，但是本文基于中国情境，公司年报审计遵循中国审计准则，或许引用中国相关机构的发言或许更好？</a:t>
            </a:r>
            <a:endParaRPr lang="en-US" altLang="zh-CN" dirty="0"/>
          </a:p>
          <a:p>
            <a:endParaRPr lang="en-US" altLang="zh-CN" dirty="0"/>
          </a:p>
          <a:p>
            <a:r>
              <a:rPr lang="zh-CN" altLang="en-US" dirty="0"/>
              <a:t>第二个是，因为文章是发在英文期刊上面，所以我觉得如果补充一下为什么研究中国，或者说为什么对于中国的研究具有普适性或者推广性这一方面的内容或许更好？</a:t>
            </a:r>
            <a:endParaRPr lang="en-US" altLang="zh-CN" dirty="0"/>
          </a:p>
          <a:p>
            <a:endParaRPr lang="en-US" altLang="zh-CN" dirty="0"/>
          </a:p>
          <a:p>
            <a:r>
              <a:rPr lang="zh-CN" altLang="en-US" dirty="0"/>
              <a:t>第三个是，论文的核心变量，也就是文本相似度似乎是采取了去百分号处理了，因为我看余弦相似度的取值超过</a:t>
            </a:r>
            <a:r>
              <a:rPr lang="en-US" altLang="zh-CN" dirty="0"/>
              <a:t>1</a:t>
            </a:r>
            <a:r>
              <a:rPr lang="zh-CN" altLang="en-US" dirty="0"/>
              <a:t>了，但是文章似乎并没有就此进行说明，可以补充一下</a:t>
            </a:r>
            <a:endParaRPr lang="en-US" altLang="zh-CN" dirty="0"/>
          </a:p>
          <a:p>
            <a:endParaRPr lang="en-US" altLang="zh-CN" dirty="0"/>
          </a:p>
          <a:p>
            <a:r>
              <a:rPr lang="zh-CN" altLang="en-US" dirty="0"/>
              <a:t>最后就是，文章存在一些书写错误，作者可以检查一下。</a:t>
            </a:r>
            <a:endParaRPr lang="en-US" altLang="zh-CN"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6</a:t>
            </a:fld>
            <a:endParaRPr lang="zh-CN" altLang="en-US"/>
          </a:p>
        </p:txBody>
      </p:sp>
    </p:spTree>
    <p:extLst>
      <p:ext uri="{BB962C8B-B14F-4D97-AF65-F5344CB8AC3E}">
        <p14:creationId xmlns:p14="http://schemas.microsoft.com/office/powerpoint/2010/main" val="1386075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7</a:t>
            </a:fld>
            <a:endParaRPr lang="zh-CN" altLang="en-US"/>
          </a:p>
        </p:txBody>
      </p:sp>
    </p:spTree>
    <p:extLst>
      <p:ext uri="{BB962C8B-B14F-4D97-AF65-F5344CB8AC3E}">
        <p14:creationId xmlns:p14="http://schemas.microsoft.com/office/powerpoint/2010/main" val="3413831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9A6B5468-08B2-4719-95F2-09388674441C}" type="slidenum">
              <a:rPr lang="zh-CN" altLang="en-US" smtClean="0"/>
              <a:t>8</a:t>
            </a:fld>
            <a:endParaRPr lang="zh-CN" altLang="en-US"/>
          </a:p>
        </p:txBody>
      </p:sp>
    </p:spTree>
    <p:extLst>
      <p:ext uri="{BB962C8B-B14F-4D97-AF65-F5344CB8AC3E}">
        <p14:creationId xmlns:p14="http://schemas.microsoft.com/office/powerpoint/2010/main" val="3722036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D943B-73E9-53AC-FF65-1F748A516F8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9BA4C1C-964A-3763-3EC7-28D265DA92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C700C3E-F414-D590-553F-648A61CBF3ED}"/>
              </a:ext>
            </a:extLst>
          </p:cNvPr>
          <p:cNvSpPr>
            <a:spLocks noGrp="1"/>
          </p:cNvSpPr>
          <p:nvPr>
            <p:ph type="dt" sz="half" idx="10"/>
          </p:nvPr>
        </p:nvSpPr>
        <p:spPr/>
        <p:txBody>
          <a:bodyPr/>
          <a:lstStyle/>
          <a:p>
            <a:fld id="{F5F2B088-5467-4C8B-AC49-F02530AFC1F3}" type="datetime1">
              <a:rPr lang="zh-CN" altLang="en-US" smtClean="0"/>
              <a:t>2024/5/30</a:t>
            </a:fld>
            <a:endParaRPr lang="zh-CN" altLang="en-US"/>
          </a:p>
        </p:txBody>
      </p:sp>
      <p:sp>
        <p:nvSpPr>
          <p:cNvPr id="5" name="页脚占位符 4">
            <a:extLst>
              <a:ext uri="{FF2B5EF4-FFF2-40B4-BE49-F238E27FC236}">
                <a16:creationId xmlns:a16="http://schemas.microsoft.com/office/drawing/2014/main" id="{676606DB-106B-AA41-5C4F-67D8469290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AEB468-C895-1984-F68D-306A5CC33D71}"/>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99130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88C493-2CB1-E8F2-502C-7CE7D31C1DC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31B404-DD3A-3EE2-14BF-28AC17135B5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D6F486-9526-7969-C0B7-65D41AA8D184}"/>
              </a:ext>
            </a:extLst>
          </p:cNvPr>
          <p:cNvSpPr>
            <a:spLocks noGrp="1"/>
          </p:cNvSpPr>
          <p:nvPr>
            <p:ph type="dt" sz="half" idx="10"/>
          </p:nvPr>
        </p:nvSpPr>
        <p:spPr/>
        <p:txBody>
          <a:bodyPr/>
          <a:lstStyle/>
          <a:p>
            <a:fld id="{E143084A-D777-401E-91FB-81A89BC31D12}" type="datetime1">
              <a:rPr lang="zh-CN" altLang="en-US" smtClean="0"/>
              <a:t>2024/5/30</a:t>
            </a:fld>
            <a:endParaRPr lang="zh-CN" altLang="en-US"/>
          </a:p>
        </p:txBody>
      </p:sp>
      <p:sp>
        <p:nvSpPr>
          <p:cNvPr id="5" name="页脚占位符 4">
            <a:extLst>
              <a:ext uri="{FF2B5EF4-FFF2-40B4-BE49-F238E27FC236}">
                <a16:creationId xmlns:a16="http://schemas.microsoft.com/office/drawing/2014/main" id="{954B1FA6-5207-9E37-8DB2-B617A95BB0F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67BE58-0A33-B644-C611-49ABE630B5AE}"/>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611768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B393D-A2A1-D4E7-30BF-CF95C26D98E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8017DF-3D59-3730-FB65-8FE0C6FC61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0629D1-B847-89D7-1CE5-24CFA28CF276}"/>
              </a:ext>
            </a:extLst>
          </p:cNvPr>
          <p:cNvSpPr>
            <a:spLocks noGrp="1"/>
          </p:cNvSpPr>
          <p:nvPr>
            <p:ph type="dt" sz="half" idx="10"/>
          </p:nvPr>
        </p:nvSpPr>
        <p:spPr/>
        <p:txBody>
          <a:bodyPr/>
          <a:lstStyle/>
          <a:p>
            <a:fld id="{89196202-4FDC-4D73-B34E-228CE199DB9A}" type="datetime1">
              <a:rPr lang="zh-CN" altLang="en-US" smtClean="0"/>
              <a:t>2024/5/30</a:t>
            </a:fld>
            <a:endParaRPr lang="zh-CN" altLang="en-US"/>
          </a:p>
        </p:txBody>
      </p:sp>
      <p:sp>
        <p:nvSpPr>
          <p:cNvPr id="5" name="页脚占位符 4">
            <a:extLst>
              <a:ext uri="{FF2B5EF4-FFF2-40B4-BE49-F238E27FC236}">
                <a16:creationId xmlns:a16="http://schemas.microsoft.com/office/drawing/2014/main" id="{8A265596-FA31-CD1A-A560-011CF3B94E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7A016-562B-CE24-8391-FA51D67F7702}"/>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274218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E097F-DA33-E79E-E49E-F2BA665050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D90EB5A-35CB-0F70-C6A7-2BB94C9CFC8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D0A3B09-2500-9ED0-F98C-8DD7B78A9F1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453AE25-CFDD-1365-08EC-F4F7311E7930}"/>
              </a:ext>
            </a:extLst>
          </p:cNvPr>
          <p:cNvSpPr>
            <a:spLocks noGrp="1"/>
          </p:cNvSpPr>
          <p:nvPr>
            <p:ph type="dt" sz="half" idx="10"/>
          </p:nvPr>
        </p:nvSpPr>
        <p:spPr/>
        <p:txBody>
          <a:bodyPr/>
          <a:lstStyle/>
          <a:p>
            <a:fld id="{73A72C43-74FD-4019-A4C8-4A5B2AD31F4E}" type="datetime1">
              <a:rPr lang="zh-CN" altLang="en-US" smtClean="0"/>
              <a:t>2024/5/30</a:t>
            </a:fld>
            <a:endParaRPr lang="zh-CN" altLang="en-US"/>
          </a:p>
        </p:txBody>
      </p:sp>
      <p:sp>
        <p:nvSpPr>
          <p:cNvPr id="6" name="页脚占位符 5">
            <a:extLst>
              <a:ext uri="{FF2B5EF4-FFF2-40B4-BE49-F238E27FC236}">
                <a16:creationId xmlns:a16="http://schemas.microsoft.com/office/drawing/2014/main" id="{A2137DD0-75B5-A156-633A-AD208EC766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CDA5BC-EF1B-01E3-04CB-B504ADF5ECD2}"/>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828406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7855FA-E3EB-B95D-9CE0-BE3BA92C498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727792-D569-78D3-717F-A2E160897D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09B46E8-26A8-0CF0-1BA9-C7276B897BF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332C1BC-4ACD-86DF-0E7B-2F1FD2D54A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21A172F-245B-5D31-F91A-47D17AB52B9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4FD3634-0607-DB5A-44E8-8CCDA86F0428}"/>
              </a:ext>
            </a:extLst>
          </p:cNvPr>
          <p:cNvSpPr>
            <a:spLocks noGrp="1"/>
          </p:cNvSpPr>
          <p:nvPr>
            <p:ph type="dt" sz="half" idx="10"/>
          </p:nvPr>
        </p:nvSpPr>
        <p:spPr/>
        <p:txBody>
          <a:bodyPr/>
          <a:lstStyle/>
          <a:p>
            <a:fld id="{DC2F67F3-D84F-4320-B160-147C7BC16CD4}" type="datetime1">
              <a:rPr lang="zh-CN" altLang="en-US" smtClean="0"/>
              <a:t>2024/5/30</a:t>
            </a:fld>
            <a:endParaRPr lang="zh-CN" altLang="en-US"/>
          </a:p>
        </p:txBody>
      </p:sp>
      <p:sp>
        <p:nvSpPr>
          <p:cNvPr id="8" name="页脚占位符 7">
            <a:extLst>
              <a:ext uri="{FF2B5EF4-FFF2-40B4-BE49-F238E27FC236}">
                <a16:creationId xmlns:a16="http://schemas.microsoft.com/office/drawing/2014/main" id="{F1DE8BF2-5FA6-DAB2-C6B1-C0217A22B3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EB6DD81-5547-BBB2-2EF8-BB5514CAADAC}"/>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88774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9F02D-3D93-327C-6018-9F336B5F74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E7D0CED-F6C4-E7C6-2DC2-750E6F8996F9}"/>
              </a:ext>
            </a:extLst>
          </p:cNvPr>
          <p:cNvSpPr>
            <a:spLocks noGrp="1"/>
          </p:cNvSpPr>
          <p:nvPr>
            <p:ph type="dt" sz="half" idx="10"/>
          </p:nvPr>
        </p:nvSpPr>
        <p:spPr/>
        <p:txBody>
          <a:bodyPr/>
          <a:lstStyle/>
          <a:p>
            <a:fld id="{513657C1-16E8-4AC8-85D5-B7DE9D4FAD6D}" type="datetime1">
              <a:rPr lang="zh-CN" altLang="en-US" smtClean="0"/>
              <a:t>2024/5/30</a:t>
            </a:fld>
            <a:endParaRPr lang="zh-CN" altLang="en-US"/>
          </a:p>
        </p:txBody>
      </p:sp>
      <p:sp>
        <p:nvSpPr>
          <p:cNvPr id="4" name="页脚占位符 3">
            <a:extLst>
              <a:ext uri="{FF2B5EF4-FFF2-40B4-BE49-F238E27FC236}">
                <a16:creationId xmlns:a16="http://schemas.microsoft.com/office/drawing/2014/main" id="{3C1AE89E-0DA4-C2F3-FB69-BCB41D606A1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210FDD0-E014-2205-9612-41266B2E1FD6}"/>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274290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C29BA0-E5AD-68B0-EAF2-587862416518}"/>
              </a:ext>
            </a:extLst>
          </p:cNvPr>
          <p:cNvSpPr>
            <a:spLocks noGrp="1"/>
          </p:cNvSpPr>
          <p:nvPr>
            <p:ph type="dt" sz="half" idx="10"/>
          </p:nvPr>
        </p:nvSpPr>
        <p:spPr/>
        <p:txBody>
          <a:bodyPr/>
          <a:lstStyle/>
          <a:p>
            <a:fld id="{787C5BA6-1C93-43D3-8B97-6FF43C550090}" type="datetime1">
              <a:rPr lang="zh-CN" altLang="en-US" smtClean="0"/>
              <a:t>2024/5/30</a:t>
            </a:fld>
            <a:endParaRPr lang="zh-CN" altLang="en-US"/>
          </a:p>
        </p:txBody>
      </p:sp>
      <p:sp>
        <p:nvSpPr>
          <p:cNvPr id="3" name="页脚占位符 2">
            <a:extLst>
              <a:ext uri="{FF2B5EF4-FFF2-40B4-BE49-F238E27FC236}">
                <a16:creationId xmlns:a16="http://schemas.microsoft.com/office/drawing/2014/main" id="{42CB1581-78DD-AB65-7978-C7E23772991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389121-AB3B-6563-7334-AE6FC9F57D56}"/>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230935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71752F-722C-7737-EAA9-3DAF02D118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94DD5C6-D855-A006-5C4B-6DA05BE5F1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E1A1643-8F38-5968-2BE0-0BF100235A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3E24C5B-8F1B-AF42-8A13-D54D92BF1FB6}"/>
              </a:ext>
            </a:extLst>
          </p:cNvPr>
          <p:cNvSpPr>
            <a:spLocks noGrp="1"/>
          </p:cNvSpPr>
          <p:nvPr>
            <p:ph type="dt" sz="half" idx="10"/>
          </p:nvPr>
        </p:nvSpPr>
        <p:spPr/>
        <p:txBody>
          <a:bodyPr/>
          <a:lstStyle/>
          <a:p>
            <a:fld id="{331F7737-0ABF-4B49-AB24-B9B78D0BD6E2}" type="datetime1">
              <a:rPr lang="zh-CN" altLang="en-US" smtClean="0"/>
              <a:t>2024/5/30</a:t>
            </a:fld>
            <a:endParaRPr lang="zh-CN" altLang="en-US"/>
          </a:p>
        </p:txBody>
      </p:sp>
      <p:sp>
        <p:nvSpPr>
          <p:cNvPr id="6" name="页脚占位符 5">
            <a:extLst>
              <a:ext uri="{FF2B5EF4-FFF2-40B4-BE49-F238E27FC236}">
                <a16:creationId xmlns:a16="http://schemas.microsoft.com/office/drawing/2014/main" id="{97DBD01D-140A-1E0A-CF25-CD77AC60E1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6474A5D-94C6-B9D1-C016-696E1E573EB2}"/>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742225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41D712-6D96-ADB9-CE94-A2132B3466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268121D-0587-E660-B967-7D01AF6784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05C54CA-1F85-72B7-A806-8401A8271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A6850A-DA2B-4699-BD0F-5CB0CA473A46}"/>
              </a:ext>
            </a:extLst>
          </p:cNvPr>
          <p:cNvSpPr>
            <a:spLocks noGrp="1"/>
          </p:cNvSpPr>
          <p:nvPr>
            <p:ph type="dt" sz="half" idx="10"/>
          </p:nvPr>
        </p:nvSpPr>
        <p:spPr/>
        <p:txBody>
          <a:bodyPr/>
          <a:lstStyle/>
          <a:p>
            <a:fld id="{5CEC086B-B1C5-4EFC-A690-772A7445740C}" type="datetime1">
              <a:rPr lang="zh-CN" altLang="en-US" smtClean="0"/>
              <a:t>2024/5/30</a:t>
            </a:fld>
            <a:endParaRPr lang="zh-CN" altLang="en-US"/>
          </a:p>
        </p:txBody>
      </p:sp>
      <p:sp>
        <p:nvSpPr>
          <p:cNvPr id="6" name="页脚占位符 5">
            <a:extLst>
              <a:ext uri="{FF2B5EF4-FFF2-40B4-BE49-F238E27FC236}">
                <a16:creationId xmlns:a16="http://schemas.microsoft.com/office/drawing/2014/main" id="{DF6A3428-7DD5-53C4-F474-5568A4AC37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7D714DF-16FC-303C-E560-F9B83C12B595}"/>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42086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AB4F86-3C09-038A-8F60-29FDB157FBD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A35A967-0F6B-6F01-4474-B6C1C2396A7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4548B7-57A9-A689-A4E8-3B56443D576E}"/>
              </a:ext>
            </a:extLst>
          </p:cNvPr>
          <p:cNvSpPr>
            <a:spLocks noGrp="1"/>
          </p:cNvSpPr>
          <p:nvPr>
            <p:ph type="dt" sz="half" idx="10"/>
          </p:nvPr>
        </p:nvSpPr>
        <p:spPr/>
        <p:txBody>
          <a:bodyPr/>
          <a:lstStyle/>
          <a:p>
            <a:fld id="{C4F4BFD0-2A1D-4EFA-ACFB-7A68EDACFC13}" type="datetime1">
              <a:rPr lang="zh-CN" altLang="en-US" smtClean="0"/>
              <a:t>2024/5/30</a:t>
            </a:fld>
            <a:endParaRPr lang="zh-CN" altLang="en-US"/>
          </a:p>
        </p:txBody>
      </p:sp>
      <p:sp>
        <p:nvSpPr>
          <p:cNvPr id="5" name="页脚占位符 4">
            <a:extLst>
              <a:ext uri="{FF2B5EF4-FFF2-40B4-BE49-F238E27FC236}">
                <a16:creationId xmlns:a16="http://schemas.microsoft.com/office/drawing/2014/main" id="{0881BF06-6699-7A36-EF98-0980D0CFFF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9C4E0A-EA18-843D-EA6B-A375A32D0E06}"/>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1439588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4669E05-09DF-A76A-7C1E-841A932D512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E0389F9-7607-4FE9-8192-07CD297EB30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666BC0-AAE1-09FA-3CED-D2732C0AA36B}"/>
              </a:ext>
            </a:extLst>
          </p:cNvPr>
          <p:cNvSpPr>
            <a:spLocks noGrp="1"/>
          </p:cNvSpPr>
          <p:nvPr>
            <p:ph type="dt" sz="half" idx="10"/>
          </p:nvPr>
        </p:nvSpPr>
        <p:spPr/>
        <p:txBody>
          <a:bodyPr/>
          <a:lstStyle/>
          <a:p>
            <a:fld id="{4A147ED9-CA65-4CA2-B3EB-5252951DE294}" type="datetime1">
              <a:rPr lang="zh-CN" altLang="en-US" smtClean="0"/>
              <a:t>2024/5/30</a:t>
            </a:fld>
            <a:endParaRPr lang="zh-CN" altLang="en-US"/>
          </a:p>
        </p:txBody>
      </p:sp>
      <p:sp>
        <p:nvSpPr>
          <p:cNvPr id="5" name="页脚占位符 4">
            <a:extLst>
              <a:ext uri="{FF2B5EF4-FFF2-40B4-BE49-F238E27FC236}">
                <a16:creationId xmlns:a16="http://schemas.microsoft.com/office/drawing/2014/main" id="{062D1119-7EBE-C317-F50B-7C96A0D83C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292A08-1283-653E-E49D-C00FFEDF209D}"/>
              </a:ext>
            </a:extLst>
          </p:cNvPr>
          <p:cNvSpPr>
            <a:spLocks noGrp="1"/>
          </p:cNvSpPr>
          <p:nvPr>
            <p:ph type="sldNum" sz="quarter" idx="12"/>
          </p:nvPr>
        </p:nvSpPr>
        <p:spPr/>
        <p:txBody>
          <a:body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3067396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6F849C3-B9DF-1160-ABA8-9AFD678900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C18EB79-48AC-F3A5-9CD9-9D87E4BD60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FD83C6-0AF9-9F90-9006-970C7C12E9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6FAF98-2793-4681-B1A3-C47881DA6DE9}" type="datetime1">
              <a:rPr lang="zh-CN" altLang="en-US" smtClean="0"/>
              <a:t>2024/5/30</a:t>
            </a:fld>
            <a:endParaRPr lang="zh-CN" altLang="en-US"/>
          </a:p>
        </p:txBody>
      </p:sp>
      <p:sp>
        <p:nvSpPr>
          <p:cNvPr id="5" name="页脚占位符 4">
            <a:extLst>
              <a:ext uri="{FF2B5EF4-FFF2-40B4-BE49-F238E27FC236}">
                <a16:creationId xmlns:a16="http://schemas.microsoft.com/office/drawing/2014/main" id="{A04BDC53-6410-8EE8-96B2-68CA1C923D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7448B7D-3D7B-B651-2DB0-5F29BF558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B8C51-D631-429B-BC7B-93182641C8A9}" type="slidenum">
              <a:rPr lang="zh-CN" altLang="en-US" smtClean="0"/>
              <a:t>‹#›</a:t>
            </a:fld>
            <a:endParaRPr lang="zh-CN" altLang="en-US"/>
          </a:p>
        </p:txBody>
      </p:sp>
    </p:spTree>
    <p:extLst>
      <p:ext uri="{BB962C8B-B14F-4D97-AF65-F5344CB8AC3E}">
        <p14:creationId xmlns:p14="http://schemas.microsoft.com/office/powerpoint/2010/main" val="4008299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2B44D-BEAB-D829-8D6A-7849952FFE3E}"/>
              </a:ext>
            </a:extLst>
          </p:cNvPr>
          <p:cNvSpPr>
            <a:spLocks noGrp="1"/>
          </p:cNvSpPr>
          <p:nvPr>
            <p:ph type="ctrTitle"/>
          </p:nvPr>
        </p:nvSpPr>
        <p:spPr>
          <a:xfrm>
            <a:off x="0" y="1440774"/>
            <a:ext cx="12192000" cy="1447425"/>
          </a:xfrm>
        </p:spPr>
        <p:txBody>
          <a:bodyPr>
            <a:noAutofit/>
          </a:bodyPr>
          <a:lstStyle/>
          <a:p>
            <a:pPr>
              <a:lnSpc>
                <a:spcPct val="150000"/>
              </a:lnSpc>
            </a:pPr>
            <a:r>
              <a:rPr lang="zh-CN" altLang="en-US" sz="3500" b="1" i="0" u="none" strike="noStrike"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评论</a:t>
            </a:r>
            <a:r>
              <a:rPr lang="en-US" altLang="zh-CN" sz="3500" b="1" i="0" u="none" strike="noStrike" baseline="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《Tracing Investors ’Mind: The Effects of Disclosing Critical Audit Matters on the Audit </a:t>
            </a:r>
            <a:r>
              <a:rPr lang="en-US" altLang="zh-CN" sz="35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Expectation Gap》</a:t>
            </a:r>
            <a:endParaRPr lang="zh-CN" altLang="en-US" sz="35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副标题 2">
            <a:extLst>
              <a:ext uri="{FF2B5EF4-FFF2-40B4-BE49-F238E27FC236}">
                <a16:creationId xmlns:a16="http://schemas.microsoft.com/office/drawing/2014/main" id="{8CDFD913-0434-DABB-8423-EB6D83F525FD}"/>
              </a:ext>
            </a:extLst>
          </p:cNvPr>
          <p:cNvSpPr>
            <a:spLocks noGrp="1"/>
          </p:cNvSpPr>
          <p:nvPr>
            <p:ph type="subTitle" idx="1"/>
          </p:nvPr>
        </p:nvSpPr>
        <p:spPr>
          <a:xfrm>
            <a:off x="296055" y="4027627"/>
            <a:ext cx="11599889" cy="2548676"/>
          </a:xfrm>
        </p:spPr>
        <p:txBody>
          <a:bodyPr>
            <a:noAutofit/>
          </a:bodyPr>
          <a:lstStyle/>
          <a:p>
            <a:pPr>
              <a:lnSpc>
                <a:spcPct val="100000"/>
              </a:lnSpc>
            </a:pP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梁庆林 </a:t>
            </a:r>
            <a:endPar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00000"/>
              </a:lnSpc>
            </a:pP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南京大学 商学院</a:t>
            </a:r>
            <a:endPar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00000"/>
              </a:lnSpc>
            </a:pP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502023020137@smail.nju.edu.cn</a:t>
            </a:r>
          </a:p>
          <a:p>
            <a:pPr>
              <a:lnSpc>
                <a:spcPct val="100000"/>
              </a:lnSpc>
            </a:pP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领军班杭州交流活动</a:t>
            </a: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浙江杭州</a:t>
            </a:r>
            <a:endPar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00000"/>
              </a:lnSpc>
            </a:pP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2024</a:t>
            </a: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年</a:t>
            </a: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05</a:t>
            </a: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月</a:t>
            </a: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31</a:t>
            </a: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日</a:t>
            </a:r>
            <a:endParaRPr lang="zh-CN" altLang="en-US" sz="25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355450DB-FCE8-9A67-0781-365CBDABF8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62413" y="116500"/>
            <a:ext cx="2096336" cy="644659"/>
          </a:xfrm>
          <a:prstGeom prst="rect">
            <a:avLst/>
          </a:prstGeom>
        </p:spPr>
      </p:pic>
    </p:spTree>
    <p:extLst>
      <p:ext uri="{BB962C8B-B14F-4D97-AF65-F5344CB8AC3E}">
        <p14:creationId xmlns:p14="http://schemas.microsoft.com/office/powerpoint/2010/main" val="2610795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论文回顾</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71152FBD-54E8-0117-152D-9F6D3D6CE370}"/>
              </a:ext>
            </a:extLst>
          </p:cNvPr>
          <p:cNvSpPr txBox="1"/>
          <p:nvPr/>
        </p:nvSpPr>
        <p:spPr>
          <a:xfrm>
            <a:off x="5550116" y="1079958"/>
            <a:ext cx="2478101" cy="369332"/>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审计师回应</a:t>
            </a:r>
          </a:p>
        </p:txBody>
      </p:sp>
      <p:sp>
        <p:nvSpPr>
          <p:cNvPr id="40" name="文本框 39">
            <a:extLst>
              <a:ext uri="{FF2B5EF4-FFF2-40B4-BE49-F238E27FC236}">
                <a16:creationId xmlns:a16="http://schemas.microsoft.com/office/drawing/2014/main" id="{74A22D64-B550-5625-53C4-8AEF6B151B3A}"/>
              </a:ext>
            </a:extLst>
          </p:cNvPr>
          <p:cNvSpPr txBox="1"/>
          <p:nvPr/>
        </p:nvSpPr>
        <p:spPr>
          <a:xfrm>
            <a:off x="5309029" y="2782671"/>
            <a:ext cx="2985248" cy="646331"/>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800" u="none" strike="noStrike" baseline="0" dirty="0">
                <a:solidFill>
                  <a:srgbClr val="000000"/>
                </a:solidFill>
                <a:latin typeface="Times New Roman" panose="02020603050405020304" pitchFamily="18" charset="0"/>
              </a:rPr>
              <a:t>文本相似度</a:t>
            </a:r>
            <a:endParaRPr lang="en-US" altLang="zh-CN" sz="1800" u="none" strike="noStrike" baseline="0" dirty="0">
              <a:solidFill>
                <a:srgbClr val="000000"/>
              </a:solidFill>
              <a:latin typeface="Times New Roman" panose="02020603050405020304" pitchFamily="18" charset="0"/>
            </a:endParaRPr>
          </a:p>
          <a:p>
            <a:pPr algn="ctr"/>
            <a:r>
              <a:rPr lang="zh-CN" altLang="en-US" dirty="0"/>
              <a:t>投资者提问</a:t>
            </a:r>
            <a:r>
              <a:rPr lang="en-US" altLang="zh-CN" dirty="0"/>
              <a:t>vs</a:t>
            </a:r>
            <a:r>
              <a:rPr lang="zh-CN" altLang="en-US" dirty="0"/>
              <a:t>关键审计事项</a:t>
            </a:r>
          </a:p>
        </p:txBody>
      </p:sp>
      <p:sp>
        <p:nvSpPr>
          <p:cNvPr id="42" name="文本框 41">
            <a:extLst>
              <a:ext uri="{FF2B5EF4-FFF2-40B4-BE49-F238E27FC236}">
                <a16:creationId xmlns:a16="http://schemas.microsoft.com/office/drawing/2014/main" id="{AF91AE4B-23AF-8BDC-7DE3-2A96C09E9D18}"/>
              </a:ext>
            </a:extLst>
          </p:cNvPr>
          <p:cNvSpPr txBox="1"/>
          <p:nvPr/>
        </p:nvSpPr>
        <p:spPr>
          <a:xfrm>
            <a:off x="2682418" y="1074509"/>
            <a:ext cx="2258389" cy="403316"/>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投资者信息需求</a:t>
            </a:r>
          </a:p>
        </p:txBody>
      </p:sp>
      <p:sp>
        <p:nvSpPr>
          <p:cNvPr id="44" name="文本框 43">
            <a:extLst>
              <a:ext uri="{FF2B5EF4-FFF2-40B4-BE49-F238E27FC236}">
                <a16:creationId xmlns:a16="http://schemas.microsoft.com/office/drawing/2014/main" id="{DBAB1A70-EDCB-6A7B-9149-3CC9B64F20C2}"/>
              </a:ext>
            </a:extLst>
          </p:cNvPr>
          <p:cNvSpPr txBox="1"/>
          <p:nvPr/>
        </p:nvSpPr>
        <p:spPr>
          <a:xfrm>
            <a:off x="2679966" y="2782669"/>
            <a:ext cx="2258390" cy="646331"/>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dirty="0">
                <a:solidFill>
                  <a:srgbClr val="000000"/>
                </a:solidFill>
                <a:latin typeface="Times New Roman" panose="02020603050405020304" pitchFamily="18" charset="0"/>
              </a:rPr>
              <a:t>投资者</a:t>
            </a:r>
            <a:endParaRPr lang="en-US" altLang="zh-CN" dirty="0">
              <a:solidFill>
                <a:srgbClr val="000000"/>
              </a:solidFill>
              <a:latin typeface="Times New Roman" panose="02020603050405020304" pitchFamily="18" charset="0"/>
            </a:endParaRPr>
          </a:p>
          <a:p>
            <a:pPr algn="ctr"/>
            <a:r>
              <a:rPr lang="zh-CN" altLang="en-US" dirty="0">
                <a:solidFill>
                  <a:srgbClr val="000000"/>
                </a:solidFill>
                <a:latin typeface="Times New Roman" panose="02020603050405020304" pitchFamily="18" charset="0"/>
              </a:rPr>
              <a:t>提问频次及文本长度</a:t>
            </a:r>
            <a:endParaRPr lang="zh-CN" altLang="en-US" dirty="0"/>
          </a:p>
        </p:txBody>
      </p:sp>
      <p:cxnSp>
        <p:nvCxnSpPr>
          <p:cNvPr id="46" name="直接箭头连接符 45">
            <a:extLst>
              <a:ext uri="{FF2B5EF4-FFF2-40B4-BE49-F238E27FC236}">
                <a16:creationId xmlns:a16="http://schemas.microsoft.com/office/drawing/2014/main" id="{C72FCCFE-EA88-3FA0-7A7D-BDD66C1D2420}"/>
              </a:ext>
            </a:extLst>
          </p:cNvPr>
          <p:cNvCxnSpPr>
            <a:cxnSpLocks/>
            <a:stCxn id="42" idx="3"/>
            <a:endCxn id="38" idx="1"/>
          </p:cNvCxnSpPr>
          <p:nvPr/>
        </p:nvCxnSpPr>
        <p:spPr>
          <a:xfrm>
            <a:off x="4940807" y="1276167"/>
            <a:ext cx="609309" cy="5449"/>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470B477C-04D1-14E9-F63A-D76917A14D7A}"/>
              </a:ext>
            </a:extLst>
          </p:cNvPr>
          <p:cNvSpPr txBox="1"/>
          <p:nvPr/>
        </p:nvSpPr>
        <p:spPr>
          <a:xfrm>
            <a:off x="8643020" y="1076600"/>
            <a:ext cx="2627937" cy="369332"/>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信息不对称</a:t>
            </a:r>
          </a:p>
        </p:txBody>
      </p:sp>
      <p:cxnSp>
        <p:nvCxnSpPr>
          <p:cNvPr id="51" name="直接箭头连接符 50">
            <a:extLst>
              <a:ext uri="{FF2B5EF4-FFF2-40B4-BE49-F238E27FC236}">
                <a16:creationId xmlns:a16="http://schemas.microsoft.com/office/drawing/2014/main" id="{E27E51A1-E291-D263-CC1A-30B0A184B82D}"/>
              </a:ext>
            </a:extLst>
          </p:cNvPr>
          <p:cNvCxnSpPr>
            <a:cxnSpLocks/>
            <a:stCxn id="38" idx="3"/>
            <a:endCxn id="47" idx="1"/>
          </p:cNvCxnSpPr>
          <p:nvPr/>
        </p:nvCxnSpPr>
        <p:spPr>
          <a:xfrm flipV="1">
            <a:off x="8028217" y="1278258"/>
            <a:ext cx="614803" cy="3358"/>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280CDDBC-1037-B954-8A38-D3DDD45420E5}"/>
              </a:ext>
            </a:extLst>
          </p:cNvPr>
          <p:cNvCxnSpPr>
            <a:cxnSpLocks/>
            <a:stCxn id="42" idx="2"/>
            <a:endCxn id="44" idx="0"/>
          </p:cNvCxnSpPr>
          <p:nvPr/>
        </p:nvCxnSpPr>
        <p:spPr>
          <a:xfrm flipH="1">
            <a:off x="3809161" y="1477825"/>
            <a:ext cx="2452" cy="1304844"/>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2EA7055D-5842-DD75-9502-6553A64F69EB}"/>
              </a:ext>
            </a:extLst>
          </p:cNvPr>
          <p:cNvCxnSpPr>
            <a:cxnSpLocks/>
            <a:stCxn id="38" idx="2"/>
            <a:endCxn id="40" idx="0"/>
          </p:cNvCxnSpPr>
          <p:nvPr/>
        </p:nvCxnSpPr>
        <p:spPr>
          <a:xfrm>
            <a:off x="6789167" y="1483274"/>
            <a:ext cx="12486" cy="1299397"/>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F334B82E-8498-0DD0-1A05-134F249820CE}"/>
              </a:ext>
            </a:extLst>
          </p:cNvPr>
          <p:cNvCxnSpPr>
            <a:cxnSpLocks/>
            <a:stCxn id="44" idx="3"/>
            <a:endCxn id="40" idx="1"/>
          </p:cNvCxnSpPr>
          <p:nvPr/>
        </p:nvCxnSpPr>
        <p:spPr>
          <a:xfrm>
            <a:off x="4938356" y="3105835"/>
            <a:ext cx="370673" cy="2"/>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D608CBC8-6856-DDD0-8B00-7328A9016582}"/>
              </a:ext>
            </a:extLst>
          </p:cNvPr>
          <p:cNvSpPr txBox="1"/>
          <p:nvPr/>
        </p:nvSpPr>
        <p:spPr>
          <a:xfrm>
            <a:off x="8648866" y="2782669"/>
            <a:ext cx="2627939" cy="646331"/>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dirty="0"/>
              <a:t>（</a:t>
            </a:r>
            <a:r>
              <a:rPr lang="en-US" altLang="zh-CN" dirty="0"/>
              <a:t>1</a:t>
            </a:r>
            <a:r>
              <a:rPr lang="zh-CN" altLang="en-US" dirty="0"/>
              <a:t>）股价崩盘风险</a:t>
            </a:r>
            <a:endParaRPr lang="en-US" altLang="zh-CN" dirty="0"/>
          </a:p>
          <a:p>
            <a:pPr algn="ctr"/>
            <a:r>
              <a:rPr lang="zh-CN" altLang="en-US" dirty="0"/>
              <a:t>（</a:t>
            </a:r>
            <a:r>
              <a:rPr lang="en-US" altLang="zh-CN" dirty="0"/>
              <a:t>2</a:t>
            </a:r>
            <a:r>
              <a:rPr lang="zh-CN" altLang="en-US" dirty="0"/>
              <a:t>）内幕交易的可能性</a:t>
            </a:r>
          </a:p>
        </p:txBody>
      </p:sp>
      <p:cxnSp>
        <p:nvCxnSpPr>
          <p:cNvPr id="67" name="直接箭头连接符 66">
            <a:extLst>
              <a:ext uri="{FF2B5EF4-FFF2-40B4-BE49-F238E27FC236}">
                <a16:creationId xmlns:a16="http://schemas.microsoft.com/office/drawing/2014/main" id="{519FEC9E-F268-5EB2-E352-768F857B9B2A}"/>
              </a:ext>
            </a:extLst>
          </p:cNvPr>
          <p:cNvCxnSpPr>
            <a:cxnSpLocks/>
            <a:stCxn id="47" idx="2"/>
            <a:endCxn id="66" idx="0"/>
          </p:cNvCxnSpPr>
          <p:nvPr/>
        </p:nvCxnSpPr>
        <p:spPr>
          <a:xfrm>
            <a:off x="9956989" y="1479916"/>
            <a:ext cx="5847" cy="1302753"/>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4CC79CDC-E148-58E3-5CC4-ED443D8F7002}"/>
              </a:ext>
            </a:extLst>
          </p:cNvPr>
          <p:cNvCxnSpPr>
            <a:cxnSpLocks/>
            <a:stCxn id="40" idx="3"/>
            <a:endCxn id="66" idx="1"/>
          </p:cNvCxnSpPr>
          <p:nvPr/>
        </p:nvCxnSpPr>
        <p:spPr>
          <a:xfrm flipV="1">
            <a:off x="8294277" y="3105835"/>
            <a:ext cx="354589" cy="2"/>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390FF24A-EE35-3DD0-54D6-BCF7A997160B}"/>
              </a:ext>
            </a:extLst>
          </p:cNvPr>
          <p:cNvSpPr txBox="1"/>
          <p:nvPr/>
        </p:nvSpPr>
        <p:spPr>
          <a:xfrm>
            <a:off x="4207212" y="3652129"/>
            <a:ext cx="1832959" cy="923330"/>
          </a:xfrm>
          <a:prstGeom prst="rect">
            <a:avLst/>
          </a:prstGeom>
          <a:solidFill>
            <a:schemeClr val="lt1"/>
          </a:solidFill>
          <a:ln w="317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prstDash val="sysDash"/>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dirty="0"/>
              <a:t>媒体报道</a:t>
            </a:r>
            <a:endParaRPr lang="en-US" altLang="zh-CN" dirty="0"/>
          </a:p>
          <a:p>
            <a:pPr algn="ctr"/>
            <a:r>
              <a:rPr lang="zh-CN" altLang="en-US" dirty="0"/>
              <a:t>问询情绪</a:t>
            </a:r>
          </a:p>
          <a:p>
            <a:pPr algn="ctr"/>
            <a:r>
              <a:rPr lang="zh-CN" altLang="en-US" dirty="0"/>
              <a:t>问询者专业能力</a:t>
            </a:r>
            <a:endParaRPr lang="en-US" altLang="zh-CN" dirty="0"/>
          </a:p>
        </p:txBody>
      </p:sp>
      <p:sp>
        <p:nvSpPr>
          <p:cNvPr id="80" name="文本框 79">
            <a:extLst>
              <a:ext uri="{FF2B5EF4-FFF2-40B4-BE49-F238E27FC236}">
                <a16:creationId xmlns:a16="http://schemas.microsoft.com/office/drawing/2014/main" id="{89379297-79F4-409F-B0FF-82B315F09822}"/>
              </a:ext>
            </a:extLst>
          </p:cNvPr>
          <p:cNvSpPr txBox="1"/>
          <p:nvPr/>
        </p:nvSpPr>
        <p:spPr>
          <a:xfrm>
            <a:off x="7555091" y="3652129"/>
            <a:ext cx="1832959" cy="923330"/>
          </a:xfrm>
          <a:prstGeom prst="rect">
            <a:avLst/>
          </a:prstGeom>
          <a:solidFill>
            <a:schemeClr val="lt1"/>
          </a:solidFill>
          <a:ln w="317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prstDash val="sysDash"/>
          </a:ln>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ctr"/>
          </a:lstStyle>
          <a:p>
            <a:r>
              <a:rPr lang="zh-CN" altLang="en-US" dirty="0"/>
              <a:t>审计质量</a:t>
            </a:r>
            <a:endParaRPr lang="en-US" altLang="zh-CN" dirty="0"/>
          </a:p>
          <a:p>
            <a:r>
              <a:rPr lang="zh-CN" altLang="en-US" dirty="0"/>
              <a:t>股票系统风险</a:t>
            </a:r>
            <a:endParaRPr lang="en-US" altLang="zh-CN" dirty="0"/>
          </a:p>
          <a:p>
            <a:r>
              <a:rPr lang="zh-CN" altLang="en-US" dirty="0"/>
              <a:t>问询者专业能力</a:t>
            </a:r>
            <a:endParaRPr lang="en-US" altLang="zh-CN" dirty="0"/>
          </a:p>
        </p:txBody>
      </p:sp>
      <p:sp>
        <p:nvSpPr>
          <p:cNvPr id="24" name="文本框 23">
            <a:extLst>
              <a:ext uri="{FF2B5EF4-FFF2-40B4-BE49-F238E27FC236}">
                <a16:creationId xmlns:a16="http://schemas.microsoft.com/office/drawing/2014/main" id="{433848D0-B7CD-02BB-961A-DB98272C13E5}"/>
              </a:ext>
            </a:extLst>
          </p:cNvPr>
          <p:cNvSpPr txBox="1"/>
          <p:nvPr/>
        </p:nvSpPr>
        <p:spPr>
          <a:xfrm>
            <a:off x="818087" y="5121751"/>
            <a:ext cx="10555823" cy="1442061"/>
          </a:xfrm>
          <a:prstGeom prst="rect">
            <a:avLst/>
          </a:prstGeom>
          <a:solidFill>
            <a:srgbClr val="ECD8E9">
              <a:alpha val="7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nSpc>
                <a:spcPct val="125000"/>
              </a:lnSpc>
            </a:pPr>
            <a:r>
              <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rPr>
              <a:t>1.</a:t>
            </a:r>
            <a:r>
              <a:rPr lang="zh-CN" altLang="en-US" b="1" dirty="0">
                <a:solidFill>
                  <a:schemeClr val="accent1"/>
                </a:solidFill>
                <a:latin typeface="Times New Roman" panose="02020603050405020304" pitchFamily="18" charset="0"/>
                <a:ea typeface="楷体" panose="02010609060101010101" pitchFamily="49" charset="-122"/>
                <a:sym typeface="Wingdings" panose="05000000000000000000" pitchFamily="2" charset="2"/>
              </a:rPr>
              <a:t>研究话题</a:t>
            </a:r>
            <a:r>
              <a:rPr lang="zh-CN" altLang="en-US" dirty="0">
                <a:solidFill>
                  <a:schemeClr val="tx1"/>
                </a:solidFill>
                <a:latin typeface="Times New Roman" panose="02020603050405020304" pitchFamily="18" charset="0"/>
                <a:ea typeface="楷体" panose="02010609060101010101" pitchFamily="49" charset="-122"/>
                <a:sym typeface="Wingdings" panose="05000000000000000000" pitchFamily="2" charset="2"/>
              </a:rPr>
              <a:t>：重要且有趣（中小投资者</a:t>
            </a:r>
            <a:r>
              <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rPr>
              <a:t>&amp;</a:t>
            </a:r>
            <a:r>
              <a:rPr lang="zh-CN" altLang="en-US" dirty="0">
                <a:solidFill>
                  <a:schemeClr val="tx1"/>
                </a:solidFill>
                <a:latin typeface="Times New Roman" panose="02020603050405020304" pitchFamily="18" charset="0"/>
                <a:ea typeface="楷体" panose="02010609060101010101" pitchFamily="49" charset="-122"/>
                <a:sym typeface="Wingdings" panose="05000000000000000000" pitchFamily="2" charset="2"/>
              </a:rPr>
              <a:t>关键审计事项</a:t>
            </a:r>
            <a:r>
              <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rPr>
              <a:t>&amp;</a:t>
            </a:r>
            <a:r>
              <a:rPr lang="zh-CN" altLang="en-US" dirty="0">
                <a:solidFill>
                  <a:schemeClr val="tx1"/>
                </a:solidFill>
                <a:latin typeface="Times New Roman" panose="02020603050405020304" pitchFamily="18" charset="0"/>
                <a:ea typeface="楷体" panose="02010609060101010101" pitchFamily="49" charset="-122"/>
                <a:sym typeface="Wingdings" panose="05000000000000000000" pitchFamily="2" charset="2"/>
              </a:rPr>
              <a:t>审计期望差距）</a:t>
            </a:r>
            <a:endPar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endParaRPr>
          </a:p>
          <a:p>
            <a:pPr>
              <a:lnSpc>
                <a:spcPct val="125000"/>
              </a:lnSpc>
            </a:pPr>
            <a:r>
              <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rPr>
              <a:t>2.</a:t>
            </a:r>
            <a:r>
              <a:rPr lang="zh-CN" altLang="en-US" b="1" dirty="0">
                <a:solidFill>
                  <a:schemeClr val="accent1"/>
                </a:solidFill>
                <a:latin typeface="Times New Roman" panose="02020603050405020304" pitchFamily="18" charset="0"/>
                <a:ea typeface="楷体" panose="02010609060101010101" pitchFamily="49" charset="-122"/>
                <a:sym typeface="Wingdings" panose="05000000000000000000" pitchFamily="2" charset="2"/>
              </a:rPr>
              <a:t>论证过程</a:t>
            </a:r>
            <a:r>
              <a:rPr lang="zh-CN" altLang="en-US" dirty="0">
                <a:solidFill>
                  <a:schemeClr val="tx1"/>
                </a:solidFill>
                <a:latin typeface="Times New Roman" panose="02020603050405020304" pitchFamily="18" charset="0"/>
                <a:ea typeface="楷体" panose="02010609060101010101" pitchFamily="49" charset="-122"/>
                <a:sym typeface="Wingdings" panose="05000000000000000000" pitchFamily="2" charset="2"/>
              </a:rPr>
              <a:t>：条理清晰，逻辑严密，层层递进</a:t>
            </a:r>
            <a:endPar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endParaRPr>
          </a:p>
          <a:p>
            <a:pPr>
              <a:lnSpc>
                <a:spcPct val="125000"/>
              </a:lnSpc>
            </a:pPr>
            <a:r>
              <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rPr>
              <a:t>3.</a:t>
            </a:r>
            <a:r>
              <a:rPr lang="zh-CN" altLang="en-US" b="1" dirty="0">
                <a:solidFill>
                  <a:schemeClr val="accent1"/>
                </a:solidFill>
                <a:latin typeface="Times New Roman" panose="02020603050405020304" pitchFamily="18" charset="0"/>
                <a:ea typeface="楷体" panose="02010609060101010101" pitchFamily="49" charset="-122"/>
                <a:sym typeface="Wingdings" panose="05000000000000000000" pitchFamily="2" charset="2"/>
              </a:rPr>
              <a:t>研究发现</a:t>
            </a:r>
            <a:r>
              <a:rPr lang="zh-CN" altLang="en-US" dirty="0">
                <a:solidFill>
                  <a:schemeClr val="tx1"/>
                </a:solidFill>
                <a:latin typeface="Times New Roman" panose="02020603050405020304" pitchFamily="18" charset="0"/>
                <a:ea typeface="楷体" panose="02010609060101010101" pitchFamily="49" charset="-122"/>
                <a:sym typeface="Wingdings" panose="05000000000000000000" pitchFamily="2" charset="2"/>
              </a:rPr>
              <a:t>：新颖且重要（审计师会通过关键审计事项对中小投资者信息需求进行回应，且这一回应可降低信息对称性。）</a:t>
            </a:r>
            <a:endParaRPr lang="en-US" altLang="zh-CN" dirty="0">
              <a:solidFill>
                <a:schemeClr val="tx1"/>
              </a:solidFill>
              <a:latin typeface="Times New Roman" panose="02020603050405020304" pitchFamily="18" charset="0"/>
              <a:ea typeface="楷体" panose="02010609060101010101" pitchFamily="49" charset="-122"/>
              <a:sym typeface="Wingdings" panose="05000000000000000000" pitchFamily="2" charset="2"/>
            </a:endParaRPr>
          </a:p>
        </p:txBody>
      </p:sp>
      <p:sp>
        <p:nvSpPr>
          <p:cNvPr id="35" name="矩形 34">
            <a:extLst>
              <a:ext uri="{FF2B5EF4-FFF2-40B4-BE49-F238E27FC236}">
                <a16:creationId xmlns:a16="http://schemas.microsoft.com/office/drawing/2014/main" id="{DA525F49-93D2-A3A1-6B80-71D79C1B7D45}"/>
              </a:ext>
            </a:extLst>
          </p:cNvPr>
          <p:cNvSpPr/>
          <p:nvPr/>
        </p:nvSpPr>
        <p:spPr>
          <a:xfrm>
            <a:off x="1082530" y="1079984"/>
            <a:ext cx="952820" cy="3693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dirty="0"/>
              <a:t> </a:t>
            </a:r>
            <a:r>
              <a:rPr lang="zh-CN" altLang="en-US" dirty="0"/>
              <a:t>概念层</a:t>
            </a:r>
          </a:p>
        </p:txBody>
      </p:sp>
      <p:sp>
        <p:nvSpPr>
          <p:cNvPr id="36" name="矩形 35">
            <a:extLst>
              <a:ext uri="{FF2B5EF4-FFF2-40B4-BE49-F238E27FC236}">
                <a16:creationId xmlns:a16="http://schemas.microsoft.com/office/drawing/2014/main" id="{57F24865-C994-9E6F-ECE0-B8846EC82DD7}"/>
              </a:ext>
            </a:extLst>
          </p:cNvPr>
          <p:cNvSpPr/>
          <p:nvPr/>
        </p:nvSpPr>
        <p:spPr>
          <a:xfrm>
            <a:off x="1086248" y="2916400"/>
            <a:ext cx="952820" cy="3693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t>操作层</a:t>
            </a:r>
          </a:p>
        </p:txBody>
      </p:sp>
      <p:sp>
        <p:nvSpPr>
          <p:cNvPr id="103" name="加号 102">
            <a:extLst>
              <a:ext uri="{FF2B5EF4-FFF2-40B4-BE49-F238E27FC236}">
                <a16:creationId xmlns:a16="http://schemas.microsoft.com/office/drawing/2014/main" id="{1BD32C8A-7385-C305-7C0D-5F5BAB49CB80}"/>
              </a:ext>
            </a:extLst>
          </p:cNvPr>
          <p:cNvSpPr/>
          <p:nvPr/>
        </p:nvSpPr>
        <p:spPr>
          <a:xfrm>
            <a:off x="4965066" y="1343726"/>
            <a:ext cx="492866" cy="521595"/>
          </a:xfrm>
          <a:prstGeom prst="mathPlus">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Times New Roman" panose="02020603050405020304" pitchFamily="18" charset="0"/>
              <a:ea typeface="楷体" panose="02010609060101010101" pitchFamily="49" charset="-122"/>
            </a:endParaRPr>
          </a:p>
        </p:txBody>
      </p:sp>
      <p:sp>
        <p:nvSpPr>
          <p:cNvPr id="104" name="减号 103">
            <a:extLst>
              <a:ext uri="{FF2B5EF4-FFF2-40B4-BE49-F238E27FC236}">
                <a16:creationId xmlns:a16="http://schemas.microsoft.com/office/drawing/2014/main" id="{AB0C21BB-81E6-E33B-D1FF-185BDEE3382B}"/>
              </a:ext>
            </a:extLst>
          </p:cNvPr>
          <p:cNvSpPr/>
          <p:nvPr/>
        </p:nvSpPr>
        <p:spPr>
          <a:xfrm>
            <a:off x="8100921" y="1445412"/>
            <a:ext cx="551543" cy="400107"/>
          </a:xfrm>
          <a:prstGeom prst="mathMinus">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D8E8BE60-0366-2645-BC8A-9BDD2CF336BE}"/>
              </a:ext>
            </a:extLst>
          </p:cNvPr>
          <p:cNvCxnSpPr>
            <a:stCxn id="79" idx="0"/>
          </p:cNvCxnSpPr>
          <p:nvPr/>
        </p:nvCxnSpPr>
        <p:spPr>
          <a:xfrm flipH="1" flipV="1">
            <a:off x="5123691" y="3188874"/>
            <a:ext cx="1" cy="463255"/>
          </a:xfrm>
          <a:prstGeom prst="straightConnector1">
            <a:avLst/>
          </a:prstGeom>
          <a:ln w="2857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E0B87537-CB14-6CFD-FCF8-66CC6ECB0CB7}"/>
              </a:ext>
            </a:extLst>
          </p:cNvPr>
          <p:cNvCxnSpPr>
            <a:stCxn id="80" idx="0"/>
          </p:cNvCxnSpPr>
          <p:nvPr/>
        </p:nvCxnSpPr>
        <p:spPr>
          <a:xfrm flipH="1" flipV="1">
            <a:off x="8471570" y="3205871"/>
            <a:ext cx="1" cy="446258"/>
          </a:xfrm>
          <a:prstGeom prst="straightConnector1">
            <a:avLst/>
          </a:prstGeom>
          <a:ln w="2857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83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一些（不成熟的）思考</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E7612D48-CC90-787A-4801-638B8A24F338}"/>
              </a:ext>
            </a:extLst>
          </p:cNvPr>
          <p:cNvSpPr/>
          <p:nvPr/>
        </p:nvSpPr>
        <p:spPr>
          <a:xfrm>
            <a:off x="750277" y="674510"/>
            <a:ext cx="10183446" cy="41727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dirty="0">
                <a:solidFill>
                  <a:schemeClr val="bg1"/>
                </a:solidFill>
              </a:rPr>
              <a:t>1. </a:t>
            </a:r>
            <a:r>
              <a:rPr lang="zh-CN" altLang="en-US" dirty="0">
                <a:solidFill>
                  <a:schemeClr val="bg1"/>
                </a:solidFill>
              </a:rPr>
              <a:t>回到现实，</a:t>
            </a:r>
            <a:r>
              <a:rPr lang="zh-CN" altLang="en-US" b="1" dirty="0">
                <a:solidFill>
                  <a:schemeClr val="bg1"/>
                </a:solidFill>
              </a:rPr>
              <a:t>审计师是否会关注互动易和</a:t>
            </a:r>
            <a:r>
              <a:rPr lang="en-US" altLang="zh-CN" b="1" dirty="0">
                <a:solidFill>
                  <a:schemeClr val="bg1"/>
                </a:solidFill>
              </a:rPr>
              <a:t>e</a:t>
            </a:r>
            <a:r>
              <a:rPr lang="zh-CN" altLang="en-US" b="1" dirty="0">
                <a:solidFill>
                  <a:schemeClr val="bg1"/>
                </a:solidFill>
              </a:rPr>
              <a:t>互动上投资者的信息需求</a:t>
            </a:r>
            <a:r>
              <a:rPr lang="zh-CN" altLang="en-US" dirty="0">
                <a:solidFill>
                  <a:schemeClr val="bg1"/>
                </a:solidFill>
              </a:rPr>
              <a:t>？</a:t>
            </a:r>
          </a:p>
        </p:txBody>
      </p:sp>
      <p:sp>
        <p:nvSpPr>
          <p:cNvPr id="4" name="矩形 3">
            <a:extLst>
              <a:ext uri="{FF2B5EF4-FFF2-40B4-BE49-F238E27FC236}">
                <a16:creationId xmlns:a16="http://schemas.microsoft.com/office/drawing/2014/main" id="{B2D7D7DF-71A7-51DE-1B5F-74EFBE8668AB}"/>
              </a:ext>
            </a:extLst>
          </p:cNvPr>
          <p:cNvSpPr/>
          <p:nvPr/>
        </p:nvSpPr>
        <p:spPr>
          <a:xfrm>
            <a:off x="691763" y="4992485"/>
            <a:ext cx="10241960" cy="41727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b="1" dirty="0"/>
              <a:t>建议</a:t>
            </a:r>
            <a:r>
              <a:rPr lang="en-US" altLang="zh-CN" b="1" dirty="0"/>
              <a:t>1</a:t>
            </a:r>
            <a:r>
              <a:rPr lang="zh-CN" altLang="en-US" b="1" dirty="0"/>
              <a:t>：补充对相关从业人员的采访。</a:t>
            </a:r>
            <a:endParaRPr lang="en-US" altLang="zh-CN" b="1" dirty="0"/>
          </a:p>
        </p:txBody>
      </p:sp>
      <p:sp>
        <p:nvSpPr>
          <p:cNvPr id="9" name="文本框 8">
            <a:extLst>
              <a:ext uri="{FF2B5EF4-FFF2-40B4-BE49-F238E27FC236}">
                <a16:creationId xmlns:a16="http://schemas.microsoft.com/office/drawing/2014/main" id="{195045EF-A103-14DC-C48C-8BF5D3BB27D9}"/>
              </a:ext>
            </a:extLst>
          </p:cNvPr>
          <p:cNvSpPr txBox="1"/>
          <p:nvPr/>
        </p:nvSpPr>
        <p:spPr>
          <a:xfrm>
            <a:off x="691763" y="1503609"/>
            <a:ext cx="3026279" cy="128625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ctr">
              <a:defRPr>
                <a:solidFill>
                  <a:srgbClr val="000000"/>
                </a:solidFill>
                <a:latin typeface="Times New Roman" panose="02020603050405020304" pitchFamily="18" charset="0"/>
              </a:defRPr>
            </a:lvl1pPr>
          </a:lstStyle>
          <a:p>
            <a:pPr>
              <a:lnSpc>
                <a:spcPct val="150000"/>
              </a:lnSpc>
            </a:pPr>
            <a:r>
              <a:rPr lang="en-US" altLang="zh-CN" b="1">
                <a:solidFill>
                  <a:schemeClr val="accent1"/>
                </a:solidFill>
              </a:rPr>
              <a:t>H1</a:t>
            </a:r>
            <a:r>
              <a:rPr lang="en-US" altLang="zh-CN"/>
              <a:t>:</a:t>
            </a:r>
            <a:r>
              <a:rPr lang="zh-CN" altLang="en-US"/>
              <a:t>关键</a:t>
            </a:r>
            <a:r>
              <a:rPr lang="zh-CN" altLang="en-US" dirty="0"/>
              <a:t>审计事项</a:t>
            </a:r>
            <a:endParaRPr lang="en-US" altLang="zh-CN"/>
          </a:p>
          <a:p>
            <a:pPr>
              <a:lnSpc>
                <a:spcPct val="150000"/>
              </a:lnSpc>
            </a:pPr>
            <a:r>
              <a:rPr lang="zh-CN" altLang="en-US"/>
              <a:t>与</a:t>
            </a:r>
            <a:r>
              <a:rPr lang="zh-CN" altLang="en-US" dirty="0"/>
              <a:t>投资者问询的文本相似度</a:t>
            </a:r>
            <a:endParaRPr lang="en-US" altLang="zh-CN"/>
          </a:p>
          <a:p>
            <a:pPr>
              <a:lnSpc>
                <a:spcPct val="150000"/>
              </a:lnSpc>
            </a:pPr>
            <a:r>
              <a:rPr lang="zh-CN" altLang="en-US"/>
              <a:t>与</a:t>
            </a:r>
            <a:r>
              <a:rPr lang="zh-CN" altLang="en-US" dirty="0"/>
              <a:t>投资者的问询强度</a:t>
            </a:r>
            <a:r>
              <a:rPr lang="zh-CN" altLang="en-US" b="1" dirty="0">
                <a:solidFill>
                  <a:schemeClr val="accent1"/>
                </a:solidFill>
              </a:rPr>
              <a:t>不相关</a:t>
            </a:r>
            <a:endParaRPr lang="en-US" altLang="zh-CN" b="1" dirty="0">
              <a:solidFill>
                <a:schemeClr val="accent1"/>
              </a:solidFill>
            </a:endParaRPr>
          </a:p>
        </p:txBody>
      </p:sp>
      <p:sp>
        <p:nvSpPr>
          <p:cNvPr id="12" name="文本框 11">
            <a:extLst>
              <a:ext uri="{FF2B5EF4-FFF2-40B4-BE49-F238E27FC236}">
                <a16:creationId xmlns:a16="http://schemas.microsoft.com/office/drawing/2014/main" id="{2BF9B7F9-C4CB-0B1D-134F-75E73B100E78}"/>
              </a:ext>
            </a:extLst>
          </p:cNvPr>
          <p:cNvSpPr txBox="1"/>
          <p:nvPr/>
        </p:nvSpPr>
        <p:spPr>
          <a:xfrm>
            <a:off x="4279489" y="1503609"/>
            <a:ext cx="3559052" cy="128625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gn="ctr">
              <a:lnSpc>
                <a:spcPct val="150000"/>
              </a:lnSpc>
            </a:pPr>
            <a:r>
              <a:rPr lang="zh-CN" altLang="en-US" b="1" dirty="0">
                <a:solidFill>
                  <a:schemeClr val="accent1"/>
                </a:solidFill>
                <a:latin typeface="Times New Roman" panose="02020603050405020304" pitchFamily="18" charset="0"/>
              </a:rPr>
              <a:t>拒绝原假设</a:t>
            </a:r>
            <a:r>
              <a:rPr lang="zh-CN" altLang="en-US" dirty="0">
                <a:solidFill>
                  <a:srgbClr val="000000"/>
                </a:solidFill>
                <a:latin typeface="Times New Roman" panose="02020603050405020304" pitchFamily="18" charset="0"/>
              </a:rPr>
              <a:t>（回归结果显示，</a:t>
            </a:r>
            <a:endParaRPr lang="en-US" altLang="zh-CN" dirty="0">
              <a:solidFill>
                <a:srgbClr val="000000"/>
              </a:solidFill>
              <a:latin typeface="Times New Roman" panose="02020603050405020304" pitchFamily="18" charset="0"/>
            </a:endParaRPr>
          </a:p>
          <a:p>
            <a:pPr algn="ctr">
              <a:lnSpc>
                <a:spcPct val="150000"/>
              </a:lnSpc>
            </a:pPr>
            <a:r>
              <a:rPr lang="zh-CN" altLang="en-US" dirty="0">
                <a:solidFill>
                  <a:srgbClr val="000000"/>
                </a:solidFill>
                <a:latin typeface="Times New Roman" panose="02020603050405020304" pitchFamily="18" charset="0"/>
              </a:rPr>
              <a:t>文本相似度与投资者的问询强度</a:t>
            </a:r>
            <a:r>
              <a:rPr lang="zh-CN" altLang="en-US" b="1" dirty="0">
                <a:solidFill>
                  <a:schemeClr val="accent1"/>
                </a:solidFill>
                <a:latin typeface="Times New Roman" panose="02020603050405020304" pitchFamily="18" charset="0"/>
              </a:rPr>
              <a:t>存在显著的正向关系）</a:t>
            </a:r>
            <a:endParaRPr lang="en-US" altLang="zh-CN" b="1" dirty="0">
              <a:solidFill>
                <a:schemeClr val="accent1"/>
              </a:solidFill>
              <a:latin typeface="Times New Roman" panose="02020603050405020304" pitchFamily="18" charset="0"/>
            </a:endParaRPr>
          </a:p>
        </p:txBody>
      </p:sp>
      <p:sp>
        <p:nvSpPr>
          <p:cNvPr id="13" name="文本框 12">
            <a:extLst>
              <a:ext uri="{FF2B5EF4-FFF2-40B4-BE49-F238E27FC236}">
                <a16:creationId xmlns:a16="http://schemas.microsoft.com/office/drawing/2014/main" id="{928F8073-4270-D0EC-D65B-ECA4E6FFC93A}"/>
              </a:ext>
            </a:extLst>
          </p:cNvPr>
          <p:cNvSpPr txBox="1"/>
          <p:nvPr/>
        </p:nvSpPr>
        <p:spPr>
          <a:xfrm>
            <a:off x="8778240" y="1503609"/>
            <a:ext cx="2155484" cy="128625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gn="ctr">
              <a:lnSpc>
                <a:spcPct val="150000"/>
              </a:lnSpc>
            </a:pPr>
            <a:r>
              <a:rPr lang="zh-CN" altLang="en-US" dirty="0">
                <a:solidFill>
                  <a:srgbClr val="000000"/>
                </a:solidFill>
                <a:latin typeface="Times New Roman" panose="02020603050405020304" pitchFamily="18" charset="0"/>
              </a:rPr>
              <a:t>审计师</a:t>
            </a:r>
            <a:r>
              <a:rPr lang="zh-CN" altLang="en-US" b="1" dirty="0">
                <a:solidFill>
                  <a:schemeClr val="accent1"/>
                </a:solidFill>
                <a:latin typeface="Times New Roman" panose="02020603050405020304" pitchFamily="18" charset="0"/>
              </a:rPr>
              <a:t>关注（回应）</a:t>
            </a:r>
            <a:endParaRPr lang="en-US" altLang="zh-CN" b="1" dirty="0">
              <a:solidFill>
                <a:schemeClr val="accent1"/>
              </a:solidFill>
              <a:latin typeface="Times New Roman" panose="02020603050405020304" pitchFamily="18" charset="0"/>
            </a:endParaRPr>
          </a:p>
          <a:p>
            <a:pPr algn="ctr">
              <a:lnSpc>
                <a:spcPct val="150000"/>
              </a:lnSpc>
            </a:pPr>
            <a:r>
              <a:rPr lang="zh-CN" altLang="en-US" dirty="0">
                <a:solidFill>
                  <a:srgbClr val="000000"/>
                </a:solidFill>
                <a:latin typeface="Times New Roman" panose="02020603050405020304" pitchFamily="18" charset="0"/>
              </a:rPr>
              <a:t>互动易和</a:t>
            </a:r>
            <a:r>
              <a:rPr lang="en-US" altLang="zh-CN" dirty="0">
                <a:solidFill>
                  <a:srgbClr val="000000"/>
                </a:solidFill>
                <a:latin typeface="Times New Roman" panose="02020603050405020304" pitchFamily="18" charset="0"/>
              </a:rPr>
              <a:t>e</a:t>
            </a:r>
            <a:r>
              <a:rPr lang="zh-CN" altLang="en-US" dirty="0">
                <a:solidFill>
                  <a:srgbClr val="000000"/>
                </a:solidFill>
                <a:latin typeface="Times New Roman" panose="02020603050405020304" pitchFamily="18" charset="0"/>
              </a:rPr>
              <a:t>互动上</a:t>
            </a:r>
            <a:endParaRPr lang="en-US" altLang="zh-CN" dirty="0">
              <a:solidFill>
                <a:srgbClr val="000000"/>
              </a:solidFill>
              <a:latin typeface="Times New Roman" panose="02020603050405020304" pitchFamily="18" charset="0"/>
            </a:endParaRPr>
          </a:p>
          <a:p>
            <a:pPr algn="ctr">
              <a:lnSpc>
                <a:spcPct val="150000"/>
              </a:lnSpc>
            </a:pPr>
            <a:r>
              <a:rPr lang="zh-CN" altLang="en-US" dirty="0">
                <a:solidFill>
                  <a:srgbClr val="000000"/>
                </a:solidFill>
                <a:latin typeface="Times New Roman" panose="02020603050405020304" pitchFamily="18" charset="0"/>
              </a:rPr>
              <a:t>投资者</a:t>
            </a:r>
            <a:r>
              <a:rPr lang="zh-CN" altLang="en-US" b="1" dirty="0">
                <a:solidFill>
                  <a:schemeClr val="accent1"/>
                </a:solidFill>
                <a:latin typeface="Times New Roman" panose="02020603050405020304" pitchFamily="18" charset="0"/>
              </a:rPr>
              <a:t>信息需求</a:t>
            </a:r>
            <a:endParaRPr lang="en-US" altLang="zh-CN" b="1" dirty="0">
              <a:solidFill>
                <a:schemeClr val="accent1"/>
              </a:solidFill>
              <a:latin typeface="Times New Roman" panose="02020603050405020304" pitchFamily="18" charset="0"/>
            </a:endParaRPr>
          </a:p>
        </p:txBody>
      </p:sp>
      <p:cxnSp>
        <p:nvCxnSpPr>
          <p:cNvPr id="15" name="直接箭头连接符 14">
            <a:extLst>
              <a:ext uri="{FF2B5EF4-FFF2-40B4-BE49-F238E27FC236}">
                <a16:creationId xmlns:a16="http://schemas.microsoft.com/office/drawing/2014/main" id="{DC5E5EC2-A7E3-C64B-BAD9-95AEF8C9594B}"/>
              </a:ext>
            </a:extLst>
          </p:cNvPr>
          <p:cNvCxnSpPr>
            <a:cxnSpLocks/>
            <a:stCxn id="9" idx="3"/>
            <a:endCxn id="12" idx="1"/>
          </p:cNvCxnSpPr>
          <p:nvPr/>
        </p:nvCxnSpPr>
        <p:spPr>
          <a:xfrm>
            <a:off x="3718042" y="2146734"/>
            <a:ext cx="561447" cy="0"/>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7499C87B-DD89-CBEA-93E4-61E6E44E22B1}"/>
              </a:ext>
            </a:extLst>
          </p:cNvPr>
          <p:cNvCxnSpPr>
            <a:cxnSpLocks/>
            <a:stCxn id="12" idx="3"/>
            <a:endCxn id="13" idx="1"/>
          </p:cNvCxnSpPr>
          <p:nvPr/>
        </p:nvCxnSpPr>
        <p:spPr>
          <a:xfrm>
            <a:off x="7838541" y="2146734"/>
            <a:ext cx="939699" cy="0"/>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38E235D6-7274-E0C6-DD52-5A6A754597D4}"/>
              </a:ext>
            </a:extLst>
          </p:cNvPr>
          <p:cNvSpPr/>
          <p:nvPr/>
        </p:nvSpPr>
        <p:spPr>
          <a:xfrm>
            <a:off x="8118282" y="1503609"/>
            <a:ext cx="444054" cy="553998"/>
          </a:xfrm>
          <a:prstGeom prst="rect">
            <a:avLst/>
          </a:prstGeom>
          <a:noFill/>
        </p:spPr>
        <p:txBody>
          <a:bodyPr wrap="square" lIns="91440" tIns="45720" rIns="91440" bIns="45720">
            <a:spAutoFit/>
          </a:bodyPr>
          <a:lstStyle/>
          <a:p>
            <a:pPr algn="ctr"/>
            <a:r>
              <a:rPr lang="zh-CN" altLang="en-US" sz="3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0" cap="none" spc="0" dirty="0">
              <a:ln w="0"/>
              <a:solidFill>
                <a:schemeClr val="accent1"/>
              </a:solidFill>
              <a:effectLst>
                <a:outerShdw blurRad="38100" dist="25400" dir="5400000" algn="ctr" rotWithShape="0">
                  <a:srgbClr val="6E747A">
                    <a:alpha val="43000"/>
                  </a:srgbClr>
                </a:outerShdw>
              </a:effectLst>
            </a:endParaRPr>
          </a:p>
        </p:txBody>
      </p:sp>
      <p:sp>
        <p:nvSpPr>
          <p:cNvPr id="46" name="文本框 45">
            <a:extLst>
              <a:ext uri="{FF2B5EF4-FFF2-40B4-BE49-F238E27FC236}">
                <a16:creationId xmlns:a16="http://schemas.microsoft.com/office/drawing/2014/main" id="{58580D26-4BB7-EE32-2947-57CBB31A2569}"/>
              </a:ext>
            </a:extLst>
          </p:cNvPr>
          <p:cNvSpPr txBox="1"/>
          <p:nvPr/>
        </p:nvSpPr>
        <p:spPr>
          <a:xfrm>
            <a:off x="750277" y="3431570"/>
            <a:ext cx="3864334" cy="870751"/>
          </a:xfrm>
          <a:prstGeom prst="rect">
            <a:avLst/>
          </a:prstGeom>
          <a:solidFill>
            <a:srgbClr val="ECD8E9"/>
          </a:solidFill>
          <a:ln>
            <a:noFill/>
          </a:ln>
          <a:effectLst/>
          <a:scene3d>
            <a:camera prst="orthographicFront">
              <a:rot lat="0" lon="0" rev="0"/>
            </a:camera>
            <a:lightRig rig="contrasting" dir="t">
              <a:rot lat="0" lon="0" rev="7800000"/>
            </a:lightRig>
          </a:scene3d>
          <a:sp3d>
            <a:bevelT w="139700" h="139700"/>
          </a:sp3d>
        </p:spPr>
        <p:style>
          <a:lnRef idx="1">
            <a:schemeClr val="accent1"/>
          </a:lnRef>
          <a:fillRef idx="2">
            <a:schemeClr val="accent1"/>
          </a:fillRef>
          <a:effectRef idx="1">
            <a:schemeClr val="accent1"/>
          </a:effectRef>
          <a:fontRef idx="minor">
            <a:schemeClr val="dk1"/>
          </a:fontRef>
        </p:style>
        <p:txBody>
          <a:bodyPr wrap="square">
            <a:spAutoFit/>
          </a:bodyPr>
          <a:lstStyle>
            <a:defPPr>
              <a:defRPr lang="zh-CN"/>
            </a:defPPr>
            <a:lvl1pPr algn="ctr">
              <a:defRPr b="0" i="0" u="none" strike="noStrike" baseline="0">
                <a:solidFill>
                  <a:srgbClr val="000000"/>
                </a:solidFill>
                <a:latin typeface="Times New Roman" panose="02020603050405020304" pitchFamily="18" charset="0"/>
              </a:defRPr>
            </a:lvl1pPr>
          </a:lstStyle>
          <a:p>
            <a:pPr>
              <a:lnSpc>
                <a:spcPct val="150000"/>
              </a:lnSpc>
            </a:pPr>
            <a:r>
              <a:rPr lang="zh-CN" altLang="en-US" dirty="0"/>
              <a:t>文本相似度与</a:t>
            </a:r>
            <a:endParaRPr lang="en-US" altLang="zh-CN" dirty="0"/>
          </a:p>
          <a:p>
            <a:pPr>
              <a:lnSpc>
                <a:spcPct val="150000"/>
              </a:lnSpc>
            </a:pPr>
            <a:r>
              <a:rPr lang="zh-CN" altLang="en-US" dirty="0"/>
              <a:t>投资者的问询强度存在</a:t>
            </a:r>
            <a:r>
              <a:rPr lang="zh-CN" altLang="en-US" b="1" dirty="0">
                <a:solidFill>
                  <a:schemeClr val="accent1"/>
                </a:solidFill>
              </a:rPr>
              <a:t>显著正向关系</a:t>
            </a:r>
            <a:endParaRPr lang="en-US" altLang="zh-CN" b="1" dirty="0">
              <a:solidFill>
                <a:schemeClr val="accent1"/>
              </a:solidFill>
            </a:endParaRPr>
          </a:p>
        </p:txBody>
      </p:sp>
      <p:sp>
        <p:nvSpPr>
          <p:cNvPr id="47" name="文本框 46">
            <a:extLst>
              <a:ext uri="{FF2B5EF4-FFF2-40B4-BE49-F238E27FC236}">
                <a16:creationId xmlns:a16="http://schemas.microsoft.com/office/drawing/2014/main" id="{36C49CAF-DC9C-84D0-BF3D-E70FC800595A}"/>
              </a:ext>
            </a:extLst>
          </p:cNvPr>
          <p:cNvSpPr txBox="1"/>
          <p:nvPr/>
        </p:nvSpPr>
        <p:spPr>
          <a:xfrm>
            <a:off x="7318775" y="3429000"/>
            <a:ext cx="3559052" cy="870751"/>
          </a:xfrm>
          <a:prstGeom prst="rect">
            <a:avLst/>
          </a:prstGeom>
          <a:solidFill>
            <a:srgbClr val="ECD8E9"/>
          </a:solidFill>
          <a:ln>
            <a:noFill/>
          </a:ln>
          <a:effectLst/>
          <a:scene3d>
            <a:camera prst="orthographicFront">
              <a:rot lat="0" lon="0" rev="0"/>
            </a:camera>
            <a:lightRig rig="contrasting" dir="t">
              <a:rot lat="0" lon="0" rev="7800000"/>
            </a:lightRig>
          </a:scene3d>
          <a:sp3d>
            <a:bevelT w="139700" h="139700"/>
          </a:sp3d>
        </p:spPr>
        <p:style>
          <a:lnRef idx="1">
            <a:schemeClr val="accent1"/>
          </a:lnRef>
          <a:fillRef idx="2">
            <a:schemeClr val="accent1"/>
          </a:fillRef>
          <a:effectRef idx="1">
            <a:schemeClr val="accent1"/>
          </a:effectRef>
          <a:fontRef idx="minor">
            <a:schemeClr val="dk1"/>
          </a:fontRef>
        </p:style>
        <p:txBody>
          <a:bodyPr wrap="square">
            <a:spAutoFit/>
          </a:bodyPr>
          <a:lstStyle>
            <a:defPPr>
              <a:defRPr lang="zh-CN"/>
            </a:defPPr>
            <a:lvl1pPr algn="ctr">
              <a:defRPr b="0" i="0" u="none" strike="noStrike" baseline="0">
                <a:solidFill>
                  <a:srgbClr val="000000"/>
                </a:solidFill>
                <a:latin typeface="Times New Roman" panose="02020603050405020304" pitchFamily="18" charset="0"/>
              </a:defRPr>
            </a:lvl1pPr>
          </a:lstStyle>
          <a:p>
            <a:pPr>
              <a:lnSpc>
                <a:spcPct val="150000"/>
              </a:lnSpc>
            </a:pPr>
            <a:r>
              <a:rPr lang="zh-CN" altLang="en-US" dirty="0"/>
              <a:t>审计师</a:t>
            </a:r>
            <a:r>
              <a:rPr lang="zh-CN" altLang="en-US" b="1" dirty="0">
                <a:solidFill>
                  <a:schemeClr val="accent1"/>
                </a:solidFill>
              </a:rPr>
              <a:t>关注（回应）</a:t>
            </a:r>
            <a:endParaRPr lang="en-US" altLang="zh-CN" b="1" dirty="0">
              <a:solidFill>
                <a:schemeClr val="accent1"/>
              </a:solidFill>
            </a:endParaRPr>
          </a:p>
          <a:p>
            <a:pPr>
              <a:lnSpc>
                <a:spcPct val="150000"/>
              </a:lnSpc>
            </a:pPr>
            <a:r>
              <a:rPr lang="zh-CN" altLang="en-US" dirty="0"/>
              <a:t>互动易和</a:t>
            </a:r>
            <a:r>
              <a:rPr lang="en-US" altLang="zh-CN" dirty="0"/>
              <a:t>e</a:t>
            </a:r>
            <a:r>
              <a:rPr lang="zh-CN" altLang="en-US" dirty="0"/>
              <a:t>互动上投资者</a:t>
            </a:r>
            <a:r>
              <a:rPr lang="zh-CN" altLang="en-US" b="1" dirty="0">
                <a:solidFill>
                  <a:schemeClr val="accent1"/>
                </a:solidFill>
              </a:rPr>
              <a:t>信息需求</a:t>
            </a:r>
            <a:endParaRPr lang="en-US" altLang="zh-CN" b="1" dirty="0">
              <a:solidFill>
                <a:schemeClr val="accent1"/>
              </a:solidFill>
            </a:endParaRPr>
          </a:p>
        </p:txBody>
      </p:sp>
      <p:cxnSp>
        <p:nvCxnSpPr>
          <p:cNvPr id="49" name="直接箭头连接符 48">
            <a:extLst>
              <a:ext uri="{FF2B5EF4-FFF2-40B4-BE49-F238E27FC236}">
                <a16:creationId xmlns:a16="http://schemas.microsoft.com/office/drawing/2014/main" id="{2429745C-3282-BB6F-27FF-0EDD4F0712CC}"/>
              </a:ext>
            </a:extLst>
          </p:cNvPr>
          <p:cNvCxnSpPr>
            <a:cxnSpLocks/>
          </p:cNvCxnSpPr>
          <p:nvPr/>
        </p:nvCxnSpPr>
        <p:spPr>
          <a:xfrm flipH="1">
            <a:off x="4614610" y="3876553"/>
            <a:ext cx="2704165" cy="257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71572CFF-20E8-83FD-9E1D-9A329A2FFAB4}"/>
              </a:ext>
            </a:extLst>
          </p:cNvPr>
          <p:cNvCxnSpPr>
            <a:cxnSpLocks/>
          </p:cNvCxnSpPr>
          <p:nvPr/>
        </p:nvCxnSpPr>
        <p:spPr>
          <a:xfrm flipV="1">
            <a:off x="4614610" y="3648922"/>
            <a:ext cx="2704165" cy="2570"/>
          </a:xfrm>
          <a:prstGeom prst="straightConnector1">
            <a:avLst/>
          </a:prstGeom>
          <a:ln w="31750">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96699A4D-7284-FCBD-84B8-23D9A2F3A333}"/>
              </a:ext>
            </a:extLst>
          </p:cNvPr>
          <p:cNvSpPr/>
          <p:nvPr/>
        </p:nvSpPr>
        <p:spPr>
          <a:xfrm>
            <a:off x="5750134" y="3931930"/>
            <a:ext cx="532875" cy="553998"/>
          </a:xfrm>
          <a:prstGeom prst="rect">
            <a:avLst/>
          </a:prstGeom>
          <a:noFill/>
        </p:spPr>
        <p:txBody>
          <a:bodyPr wrap="square" lIns="91440" tIns="45720" rIns="91440" bIns="45720">
            <a:spAutoFit/>
          </a:bodyPr>
          <a:lstStyle/>
          <a:p>
            <a:pPr algn="ctr"/>
            <a:r>
              <a:rPr lang="zh-CN" altLang="en-US" sz="3000" b="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1" cap="none" spc="0" dirty="0">
              <a:ln w="0"/>
              <a:solidFill>
                <a:schemeClr val="accent1"/>
              </a:solidFill>
              <a:effectLst>
                <a:outerShdw blurRad="38100" dist="25400" dir="5400000" algn="ctr" rotWithShape="0">
                  <a:srgbClr val="6E747A">
                    <a:alpha val="43000"/>
                  </a:srgbClr>
                </a:outerShdw>
              </a:effectLst>
            </a:endParaRPr>
          </a:p>
        </p:txBody>
      </p:sp>
      <p:sp>
        <p:nvSpPr>
          <p:cNvPr id="53" name="矩形 52">
            <a:extLst>
              <a:ext uri="{FF2B5EF4-FFF2-40B4-BE49-F238E27FC236}">
                <a16:creationId xmlns:a16="http://schemas.microsoft.com/office/drawing/2014/main" id="{9EC1B072-1A0F-8BC5-2F59-F0B2E422522E}"/>
              </a:ext>
            </a:extLst>
          </p:cNvPr>
          <p:cNvSpPr/>
          <p:nvPr/>
        </p:nvSpPr>
        <p:spPr>
          <a:xfrm>
            <a:off x="4815017" y="3117647"/>
            <a:ext cx="2561963" cy="553998"/>
          </a:xfrm>
          <a:prstGeom prst="rect">
            <a:avLst/>
          </a:prstGeom>
          <a:noFill/>
        </p:spPr>
        <p:txBody>
          <a:bodyPr wrap="square" lIns="91440" tIns="45720" rIns="91440" bIns="45720">
            <a:spAutoFit/>
          </a:bodyPr>
          <a:lstStyle/>
          <a:p>
            <a:pPr algn="ctr"/>
            <a:r>
              <a:rPr lang="en-US" altLang="zh-CN" sz="3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0" cap="none" spc="0" dirty="0">
              <a:ln w="0"/>
              <a:solidFill>
                <a:schemeClr val="accent1"/>
              </a:solidFill>
              <a:effectLst>
                <a:outerShdw blurRad="38100" dist="25400" dir="5400000" algn="ctr" rotWithShape="0">
                  <a:srgbClr val="6E747A">
                    <a:alpha val="43000"/>
                  </a:srgbClr>
                </a:outerShdw>
              </a:effectLst>
            </a:endParaRPr>
          </a:p>
        </p:txBody>
      </p:sp>
      <p:sp>
        <p:nvSpPr>
          <p:cNvPr id="89" name="文本框 88">
            <a:extLst>
              <a:ext uri="{FF2B5EF4-FFF2-40B4-BE49-F238E27FC236}">
                <a16:creationId xmlns:a16="http://schemas.microsoft.com/office/drawing/2014/main" id="{B91A2028-4CB4-80F1-809C-CABDDA10D8D7}"/>
              </a:ext>
            </a:extLst>
          </p:cNvPr>
          <p:cNvSpPr txBox="1"/>
          <p:nvPr/>
        </p:nvSpPr>
        <p:spPr>
          <a:xfrm>
            <a:off x="691763" y="5503947"/>
            <a:ext cx="10241960" cy="923330"/>
          </a:xfrm>
          <a:prstGeom prst="rect">
            <a:avLst/>
          </a:prstGeom>
          <a:solidFill>
            <a:schemeClr val="lt1"/>
          </a:solidFill>
          <a:ln w="317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prstDash val="sysDash"/>
          </a:ln>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ctr">
              <a:defRPr>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zh-CN" altLang="en-US" dirty="0"/>
              <a:t>注意</a:t>
            </a:r>
            <a:r>
              <a:rPr lang="en-US" altLang="zh-CN" dirty="0"/>
              <a:t>1</a:t>
            </a:r>
            <a:r>
              <a:rPr lang="zh-CN" altLang="en-US" dirty="0"/>
              <a:t>：被采访样本要具备代表性，以确保采访结论的推广性与普适性。</a:t>
            </a:r>
            <a:endParaRPr lang="en-US" altLang="zh-CN" dirty="0"/>
          </a:p>
          <a:p>
            <a:pPr algn="l"/>
            <a:r>
              <a:rPr lang="zh-CN" altLang="en-US" dirty="0"/>
              <a:t>注意</a:t>
            </a:r>
            <a:r>
              <a:rPr lang="en-US" altLang="zh-CN" dirty="0"/>
              <a:t>2</a:t>
            </a:r>
            <a:r>
              <a:rPr lang="zh-CN" altLang="en-US" dirty="0"/>
              <a:t>：不能引导式提问，如“您在审计的过程中会关注互动易和</a:t>
            </a:r>
            <a:r>
              <a:rPr lang="en-US" altLang="zh-CN" dirty="0"/>
              <a:t>e</a:t>
            </a:r>
            <a:r>
              <a:rPr lang="zh-CN" altLang="en-US" dirty="0"/>
              <a:t>互动上投资者信息需求”</a:t>
            </a:r>
            <a:endParaRPr lang="en-US" altLang="zh-CN" dirty="0"/>
          </a:p>
          <a:p>
            <a:pPr algn="l"/>
            <a:r>
              <a:rPr lang="zh-CN" altLang="en-US" dirty="0"/>
              <a:t>注意</a:t>
            </a:r>
            <a:r>
              <a:rPr lang="en-US" altLang="zh-CN" dirty="0"/>
              <a:t>3</a:t>
            </a:r>
            <a:r>
              <a:rPr lang="zh-CN" altLang="en-US" dirty="0"/>
              <a:t>：</a:t>
            </a:r>
            <a:r>
              <a:rPr lang="en-US" altLang="zh-CN" dirty="0"/>
              <a:t>…….</a:t>
            </a:r>
            <a:endParaRPr lang="zh-CN" altLang="en-US" dirty="0"/>
          </a:p>
        </p:txBody>
      </p:sp>
    </p:spTree>
    <p:extLst>
      <p:ext uri="{BB962C8B-B14F-4D97-AF65-F5344CB8AC3E}">
        <p14:creationId xmlns:p14="http://schemas.microsoft.com/office/powerpoint/2010/main" val="3524458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一些（不成熟的）思考</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81CA2380-B6F7-41CD-6718-B4AB043A0EDC}"/>
              </a:ext>
            </a:extLst>
          </p:cNvPr>
          <p:cNvSpPr/>
          <p:nvPr/>
        </p:nvSpPr>
        <p:spPr>
          <a:xfrm>
            <a:off x="691763" y="4835995"/>
            <a:ext cx="10241960" cy="89203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dirty="0"/>
              <a:t>建议</a:t>
            </a:r>
            <a:r>
              <a:rPr lang="en-US" altLang="zh-CN" dirty="0"/>
              <a:t>2</a:t>
            </a:r>
            <a:r>
              <a:rPr lang="zh-CN" altLang="en-US" dirty="0"/>
              <a:t>：</a:t>
            </a:r>
            <a:r>
              <a:rPr lang="zh-CN" altLang="en-US" b="1" dirty="0"/>
              <a:t>打开文本相似度的黑箱</a:t>
            </a:r>
            <a:r>
              <a:rPr lang="zh-CN" altLang="en-US" dirty="0"/>
              <a:t>。</a:t>
            </a:r>
            <a:endParaRPr lang="en-US" altLang="zh-CN" dirty="0"/>
          </a:p>
          <a:p>
            <a:r>
              <a:rPr lang="zh-CN" altLang="en-US" i="1" dirty="0"/>
              <a:t>如补充稳健性检验，对原始文本进行再加工后（如剔除模板化比较严重的描述），再进行余弦相似度分析。</a:t>
            </a:r>
            <a:endParaRPr lang="en-US" altLang="zh-CN" i="1" dirty="0"/>
          </a:p>
        </p:txBody>
      </p:sp>
      <p:sp>
        <p:nvSpPr>
          <p:cNvPr id="28" name="文本框 27">
            <a:extLst>
              <a:ext uri="{FF2B5EF4-FFF2-40B4-BE49-F238E27FC236}">
                <a16:creationId xmlns:a16="http://schemas.microsoft.com/office/drawing/2014/main" id="{CA2FFCDA-14AE-D8A8-1103-8603EA4BCC02}"/>
              </a:ext>
            </a:extLst>
          </p:cNvPr>
          <p:cNvSpPr txBox="1"/>
          <p:nvPr/>
        </p:nvSpPr>
        <p:spPr>
          <a:xfrm>
            <a:off x="1185034" y="1555041"/>
            <a:ext cx="9313932" cy="1200329"/>
          </a:xfrm>
          <a:prstGeom prst="rect">
            <a:avLst/>
          </a:prstGeom>
          <a:ln w="31750">
            <a:prstDash val="sysDash"/>
          </a:ln>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ctr">
              <a:defRPr>
                <a:solidFill>
                  <a:srgbClr val="000000"/>
                </a:solidFill>
                <a:latin typeface="Times New Roman" panose="02020603050405020304" pitchFamily="18" charset="0"/>
              </a:defRPr>
            </a:lvl1pPr>
          </a:lstStyle>
          <a:p>
            <a:r>
              <a:rPr lang="en-US" altLang="zh-CN" b="1" dirty="0">
                <a:solidFill>
                  <a:schemeClr val="accent1"/>
                </a:solidFill>
              </a:rPr>
              <a:t>1.</a:t>
            </a:r>
            <a:r>
              <a:rPr lang="zh-CN" altLang="en-US" b="1" dirty="0">
                <a:solidFill>
                  <a:schemeClr val="accent1"/>
                </a:solidFill>
              </a:rPr>
              <a:t>关键审计事项是有信息含量的，且文本相似度越高，信息含量越高。</a:t>
            </a:r>
            <a:endParaRPr lang="en-US" altLang="zh-CN" b="1" dirty="0">
              <a:solidFill>
                <a:schemeClr val="accent1"/>
              </a:solidFill>
            </a:endParaRPr>
          </a:p>
          <a:p>
            <a:r>
              <a:rPr lang="zh-CN" altLang="en-US" b="1" dirty="0">
                <a:solidFill>
                  <a:schemeClr val="accent1"/>
                </a:solidFill>
              </a:rPr>
              <a:t>（</a:t>
            </a:r>
            <a:r>
              <a:rPr lang="en-US" altLang="zh-CN" b="1" dirty="0">
                <a:solidFill>
                  <a:schemeClr val="accent1"/>
                </a:solidFill>
              </a:rPr>
              <a:t>BUT</a:t>
            </a:r>
            <a:r>
              <a:rPr lang="zh-CN" altLang="en-US" b="1" dirty="0">
                <a:solidFill>
                  <a:schemeClr val="accent1"/>
                </a:solidFill>
              </a:rPr>
              <a:t>我国关键审计事项模板化现象比较严重）</a:t>
            </a:r>
            <a:endParaRPr lang="en-US" altLang="zh-CN" b="1" dirty="0">
              <a:solidFill>
                <a:schemeClr val="accent1"/>
              </a:solidFill>
            </a:endParaRPr>
          </a:p>
          <a:p>
            <a:r>
              <a:rPr lang="en-US" altLang="zh-CN" b="1" dirty="0">
                <a:solidFill>
                  <a:schemeClr val="accent1"/>
                </a:solidFill>
              </a:rPr>
              <a:t>2.</a:t>
            </a:r>
            <a:r>
              <a:rPr lang="zh-CN" altLang="en-US" b="1" dirty="0">
                <a:solidFill>
                  <a:schemeClr val="accent1"/>
                </a:solidFill>
              </a:rPr>
              <a:t>文本相似度的提高是审计师的主动回应行为。</a:t>
            </a:r>
            <a:endParaRPr lang="en-US" altLang="zh-CN" b="1" dirty="0">
              <a:solidFill>
                <a:schemeClr val="accent1"/>
              </a:solidFill>
            </a:endParaRPr>
          </a:p>
          <a:p>
            <a:r>
              <a:rPr lang="zh-CN" altLang="en-US" b="1" dirty="0">
                <a:solidFill>
                  <a:schemeClr val="accent1"/>
                </a:solidFill>
              </a:rPr>
              <a:t>（</a:t>
            </a:r>
            <a:r>
              <a:rPr lang="en-US" altLang="zh-CN" b="1" dirty="0">
                <a:solidFill>
                  <a:schemeClr val="accent1"/>
                </a:solidFill>
              </a:rPr>
              <a:t>BUT</a:t>
            </a:r>
            <a:r>
              <a:rPr lang="zh-CN" altLang="en-US" b="1" dirty="0">
                <a:solidFill>
                  <a:schemeClr val="accent1"/>
                </a:solidFill>
              </a:rPr>
              <a:t>有可能是公司某年度发生了重大事情，而审计师与投资者同时关注，而非主动回应）</a:t>
            </a:r>
            <a:endParaRPr lang="en-US" altLang="zh-CN" b="1" dirty="0">
              <a:solidFill>
                <a:schemeClr val="accent1"/>
              </a:solidFill>
            </a:endParaRPr>
          </a:p>
        </p:txBody>
      </p:sp>
      <p:sp>
        <p:nvSpPr>
          <p:cNvPr id="43" name="文本框 42">
            <a:extLst>
              <a:ext uri="{FF2B5EF4-FFF2-40B4-BE49-F238E27FC236}">
                <a16:creationId xmlns:a16="http://schemas.microsoft.com/office/drawing/2014/main" id="{421705CE-991D-E2F2-24BE-C806CEA115DB}"/>
              </a:ext>
            </a:extLst>
          </p:cNvPr>
          <p:cNvSpPr txBox="1"/>
          <p:nvPr/>
        </p:nvSpPr>
        <p:spPr>
          <a:xfrm>
            <a:off x="5621587" y="1102815"/>
            <a:ext cx="1130594" cy="455253"/>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dirty="0"/>
              <a:t>前提假设</a:t>
            </a:r>
            <a:endParaRPr lang="en-US" altLang="zh-CN" dirty="0"/>
          </a:p>
        </p:txBody>
      </p:sp>
      <p:sp>
        <p:nvSpPr>
          <p:cNvPr id="48" name="矩形 47">
            <a:extLst>
              <a:ext uri="{FF2B5EF4-FFF2-40B4-BE49-F238E27FC236}">
                <a16:creationId xmlns:a16="http://schemas.microsoft.com/office/drawing/2014/main" id="{7B75D831-EC27-C7BD-F90D-563934D17568}"/>
              </a:ext>
            </a:extLst>
          </p:cNvPr>
          <p:cNvSpPr/>
          <p:nvPr/>
        </p:nvSpPr>
        <p:spPr>
          <a:xfrm>
            <a:off x="691763" y="5770782"/>
            <a:ext cx="10241960" cy="72611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dirty="0"/>
              <a:t>建议</a:t>
            </a:r>
            <a:r>
              <a:rPr lang="en-US" altLang="zh-CN" dirty="0"/>
              <a:t>3</a:t>
            </a:r>
            <a:r>
              <a:rPr lang="zh-CN" altLang="en-US" dirty="0"/>
              <a:t>：排除共同关注的影响（风险≠重大）。</a:t>
            </a:r>
            <a:endParaRPr lang="en-US" altLang="zh-CN" dirty="0"/>
          </a:p>
          <a:p>
            <a:r>
              <a:rPr lang="zh-CN" altLang="en-US" dirty="0"/>
              <a:t>识别公司利好的重大事件，实践难度有点大。</a:t>
            </a:r>
            <a:endParaRPr lang="en-US" altLang="zh-CN" dirty="0"/>
          </a:p>
        </p:txBody>
      </p:sp>
      <p:sp>
        <p:nvSpPr>
          <p:cNvPr id="50" name="矩形 49">
            <a:extLst>
              <a:ext uri="{FF2B5EF4-FFF2-40B4-BE49-F238E27FC236}">
                <a16:creationId xmlns:a16="http://schemas.microsoft.com/office/drawing/2014/main" id="{BDD644C5-B3E7-361A-F1A1-1498DB087027}"/>
              </a:ext>
            </a:extLst>
          </p:cNvPr>
          <p:cNvSpPr/>
          <p:nvPr/>
        </p:nvSpPr>
        <p:spPr>
          <a:xfrm>
            <a:off x="6782463" y="1163644"/>
            <a:ext cx="444054" cy="553998"/>
          </a:xfrm>
          <a:prstGeom prst="rect">
            <a:avLst/>
          </a:prstGeom>
          <a:noFill/>
        </p:spPr>
        <p:txBody>
          <a:bodyPr wrap="square" lIns="91440" tIns="45720" rIns="91440" bIns="45720">
            <a:spAutoFit/>
          </a:bodyPr>
          <a:lstStyle/>
          <a:p>
            <a:pPr algn="ctr"/>
            <a:r>
              <a:rPr lang="zh-CN" altLang="en-US" sz="3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0" cap="none" spc="0" dirty="0">
              <a:ln w="0"/>
              <a:solidFill>
                <a:schemeClr val="accent1"/>
              </a:solidFill>
              <a:effectLst>
                <a:outerShdw blurRad="38100" dist="25400" dir="5400000" algn="ctr" rotWithShape="0">
                  <a:srgbClr val="6E747A">
                    <a:alpha val="43000"/>
                  </a:srgbClr>
                </a:outerShdw>
              </a:effectLst>
            </a:endParaRPr>
          </a:p>
        </p:txBody>
      </p:sp>
      <p:grpSp>
        <p:nvGrpSpPr>
          <p:cNvPr id="58" name="组合 57">
            <a:extLst>
              <a:ext uri="{FF2B5EF4-FFF2-40B4-BE49-F238E27FC236}">
                <a16:creationId xmlns:a16="http://schemas.microsoft.com/office/drawing/2014/main" id="{EE565000-0351-1775-DFB1-D760155D9AA5}"/>
              </a:ext>
            </a:extLst>
          </p:cNvPr>
          <p:cNvGrpSpPr/>
          <p:nvPr/>
        </p:nvGrpSpPr>
        <p:grpSpPr>
          <a:xfrm>
            <a:off x="2232973" y="2933433"/>
            <a:ext cx="7218054" cy="1754326"/>
            <a:chOff x="2442781" y="2223189"/>
            <a:chExt cx="7162395" cy="1754326"/>
          </a:xfrm>
        </p:grpSpPr>
        <p:sp>
          <p:nvSpPr>
            <p:cNvPr id="45" name="文本框 44">
              <a:extLst>
                <a:ext uri="{FF2B5EF4-FFF2-40B4-BE49-F238E27FC236}">
                  <a16:creationId xmlns:a16="http://schemas.microsoft.com/office/drawing/2014/main" id="{CAE27208-C3A0-996D-E4C7-163B4C32CE0A}"/>
                </a:ext>
              </a:extLst>
            </p:cNvPr>
            <p:cNvSpPr txBox="1"/>
            <p:nvPr/>
          </p:nvSpPr>
          <p:spPr>
            <a:xfrm>
              <a:off x="2442781" y="2223189"/>
              <a:ext cx="7162395" cy="1754326"/>
            </a:xfrm>
            <a:prstGeom prst="rect">
              <a:avLst/>
            </a:prstGeom>
            <a:solidFill>
              <a:srgbClr val="ECD8E9">
                <a:alpha val="20000"/>
              </a:srgbClr>
            </a:solidFill>
            <a:ln w="28575">
              <a:solidFill>
                <a:srgbClr val="E6CFE6"/>
              </a:solidFill>
              <a:prstDash val="sysDash"/>
            </a:ln>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6" name="文本框 15">
              <a:extLst>
                <a:ext uri="{FF2B5EF4-FFF2-40B4-BE49-F238E27FC236}">
                  <a16:creationId xmlns:a16="http://schemas.microsoft.com/office/drawing/2014/main" id="{4F29D11C-0ACE-7CA7-35F6-E8298962B367}"/>
                </a:ext>
              </a:extLst>
            </p:cNvPr>
            <p:cNvSpPr txBox="1"/>
            <p:nvPr/>
          </p:nvSpPr>
          <p:spPr>
            <a:xfrm>
              <a:off x="6690441" y="2871338"/>
              <a:ext cx="2478101" cy="870751"/>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50000"/>
                </a:lnSpc>
              </a:pPr>
              <a:r>
                <a:rPr lang="zh-CN" altLang="en-US" b="1" dirty="0">
                  <a:solidFill>
                    <a:schemeClr val="accent1"/>
                  </a:solidFill>
                </a:rPr>
                <a:t>审计师</a:t>
              </a:r>
              <a:endParaRPr lang="en-US" altLang="zh-CN" b="1" dirty="0">
                <a:solidFill>
                  <a:schemeClr val="accent1"/>
                </a:solidFill>
              </a:endParaRPr>
            </a:p>
            <a:p>
              <a:pPr>
                <a:lnSpc>
                  <a:spcPct val="150000"/>
                </a:lnSpc>
              </a:pPr>
              <a:r>
                <a:rPr lang="zh-CN" altLang="en-US" dirty="0"/>
                <a:t>对投资者信息需求</a:t>
              </a:r>
              <a:r>
                <a:rPr lang="zh-CN" altLang="en-US" b="1" dirty="0">
                  <a:solidFill>
                    <a:schemeClr val="accent1"/>
                  </a:solidFill>
                </a:rPr>
                <a:t>回应</a:t>
              </a:r>
            </a:p>
          </p:txBody>
        </p:sp>
        <p:sp>
          <p:nvSpPr>
            <p:cNvPr id="18" name="文本框 17">
              <a:extLst>
                <a:ext uri="{FF2B5EF4-FFF2-40B4-BE49-F238E27FC236}">
                  <a16:creationId xmlns:a16="http://schemas.microsoft.com/office/drawing/2014/main" id="{19D1F84A-7351-E5F9-E47A-7A61A209D393}"/>
                </a:ext>
              </a:extLst>
            </p:cNvPr>
            <p:cNvSpPr txBox="1"/>
            <p:nvPr/>
          </p:nvSpPr>
          <p:spPr>
            <a:xfrm>
              <a:off x="2754846" y="2870836"/>
              <a:ext cx="2985248" cy="870751"/>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50000"/>
                </a:lnSpc>
              </a:pPr>
              <a:r>
                <a:rPr lang="zh-CN" altLang="en-US" b="1" dirty="0">
                  <a:solidFill>
                    <a:schemeClr val="accent1"/>
                  </a:solidFill>
                </a:rPr>
                <a:t>文本相似度</a:t>
              </a:r>
              <a:endParaRPr lang="en-US" altLang="zh-CN" b="1" dirty="0">
                <a:solidFill>
                  <a:schemeClr val="accent1"/>
                </a:solidFill>
              </a:endParaRPr>
            </a:p>
            <a:p>
              <a:pPr>
                <a:lnSpc>
                  <a:spcPct val="150000"/>
                </a:lnSpc>
              </a:pPr>
              <a:r>
                <a:rPr lang="zh-CN" altLang="en-US" dirty="0"/>
                <a:t>投资者提问与关键审计事项</a:t>
              </a:r>
              <a:endParaRPr lang="en-US" altLang="zh-CN" dirty="0"/>
            </a:p>
          </p:txBody>
        </p:sp>
        <p:cxnSp>
          <p:nvCxnSpPr>
            <p:cNvPr id="19" name="直接箭头连接符 18">
              <a:extLst>
                <a:ext uri="{FF2B5EF4-FFF2-40B4-BE49-F238E27FC236}">
                  <a16:creationId xmlns:a16="http://schemas.microsoft.com/office/drawing/2014/main" id="{C995712D-3AE5-8833-A81C-7071158E19D7}"/>
                </a:ext>
              </a:extLst>
            </p:cNvPr>
            <p:cNvCxnSpPr>
              <a:cxnSpLocks/>
              <a:stCxn id="18" idx="3"/>
              <a:endCxn id="16" idx="1"/>
            </p:cNvCxnSpPr>
            <p:nvPr/>
          </p:nvCxnSpPr>
          <p:spPr>
            <a:xfrm>
              <a:off x="5740094" y="3306212"/>
              <a:ext cx="950347" cy="502"/>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F7DA5EFA-A59B-9D5E-0368-F349540DC321}"/>
                </a:ext>
              </a:extLst>
            </p:cNvPr>
            <p:cNvSpPr txBox="1"/>
            <p:nvPr/>
          </p:nvSpPr>
          <p:spPr>
            <a:xfrm>
              <a:off x="3528871" y="2384632"/>
              <a:ext cx="1130594" cy="455253"/>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dirty="0"/>
                <a:t>测度方法</a:t>
              </a:r>
              <a:endParaRPr lang="en-US" altLang="zh-CN" dirty="0"/>
            </a:p>
          </p:txBody>
        </p:sp>
        <p:sp>
          <p:nvSpPr>
            <p:cNvPr id="41" name="文本框 40">
              <a:extLst>
                <a:ext uri="{FF2B5EF4-FFF2-40B4-BE49-F238E27FC236}">
                  <a16:creationId xmlns:a16="http://schemas.microsoft.com/office/drawing/2014/main" id="{45C1A5C9-5700-3A55-D14C-7837181EFE35}"/>
                </a:ext>
              </a:extLst>
            </p:cNvPr>
            <p:cNvSpPr txBox="1"/>
            <p:nvPr/>
          </p:nvSpPr>
          <p:spPr>
            <a:xfrm>
              <a:off x="7568700" y="2403825"/>
              <a:ext cx="721581" cy="455253"/>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zh-CN" altLang="en-US" dirty="0"/>
                <a:t>构念</a:t>
              </a:r>
              <a:endParaRPr lang="en-US" altLang="zh-CN" dirty="0"/>
            </a:p>
          </p:txBody>
        </p:sp>
        <p:sp>
          <p:nvSpPr>
            <p:cNvPr id="54" name="矩形 53">
              <a:extLst>
                <a:ext uri="{FF2B5EF4-FFF2-40B4-BE49-F238E27FC236}">
                  <a16:creationId xmlns:a16="http://schemas.microsoft.com/office/drawing/2014/main" id="{4E69A107-6F71-3D24-9D34-0C1C3ADDF4F3}"/>
                </a:ext>
              </a:extLst>
            </p:cNvPr>
            <p:cNvSpPr/>
            <p:nvPr/>
          </p:nvSpPr>
          <p:spPr>
            <a:xfrm>
              <a:off x="6052159" y="2755491"/>
              <a:ext cx="444054" cy="553998"/>
            </a:xfrm>
            <a:prstGeom prst="rect">
              <a:avLst/>
            </a:prstGeom>
            <a:noFill/>
          </p:spPr>
          <p:txBody>
            <a:bodyPr wrap="square" lIns="91440" tIns="45720" rIns="91440" bIns="45720">
              <a:spAutoFit/>
            </a:bodyPr>
            <a:lstStyle/>
            <a:p>
              <a:pPr algn="ctr"/>
              <a:r>
                <a:rPr lang="zh-CN" altLang="en-US" sz="3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0" cap="none" spc="0" dirty="0">
                <a:ln w="0"/>
                <a:solidFill>
                  <a:schemeClr val="accent1"/>
                </a:solidFill>
                <a:effectLst>
                  <a:outerShdw blurRad="38100" dist="25400" dir="5400000" algn="ctr" rotWithShape="0">
                    <a:srgbClr val="6E747A">
                      <a:alpha val="43000"/>
                    </a:srgbClr>
                  </a:outerShdw>
                </a:effectLst>
              </a:endParaRPr>
            </a:p>
          </p:txBody>
        </p:sp>
      </p:grpSp>
      <p:sp>
        <p:nvSpPr>
          <p:cNvPr id="57" name="矩形 56">
            <a:extLst>
              <a:ext uri="{FF2B5EF4-FFF2-40B4-BE49-F238E27FC236}">
                <a16:creationId xmlns:a16="http://schemas.microsoft.com/office/drawing/2014/main" id="{6CBE9C28-21AF-88F3-5FDB-E820472F5C15}"/>
              </a:ext>
            </a:extLst>
          </p:cNvPr>
          <p:cNvSpPr/>
          <p:nvPr/>
        </p:nvSpPr>
        <p:spPr>
          <a:xfrm>
            <a:off x="750277" y="674510"/>
            <a:ext cx="10183446" cy="41727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dirty="0">
                <a:solidFill>
                  <a:schemeClr val="bg1"/>
                </a:solidFill>
              </a:rPr>
              <a:t>2. </a:t>
            </a:r>
            <a:r>
              <a:rPr lang="zh-CN" altLang="en-US" dirty="0">
                <a:solidFill>
                  <a:schemeClr val="bg1"/>
                </a:solidFill>
              </a:rPr>
              <a:t>回到现实，</a:t>
            </a:r>
            <a:r>
              <a:rPr lang="zh-CN" altLang="en-US" b="1" dirty="0">
                <a:solidFill>
                  <a:schemeClr val="bg1"/>
                </a:solidFill>
              </a:rPr>
              <a:t>关键审计事项是否有信息含量</a:t>
            </a:r>
            <a:r>
              <a:rPr lang="zh-CN" altLang="en-US" dirty="0">
                <a:solidFill>
                  <a:schemeClr val="bg1"/>
                </a:solidFill>
              </a:rPr>
              <a:t>？</a:t>
            </a:r>
            <a:r>
              <a:rPr lang="zh-CN" altLang="en-US" b="1" dirty="0">
                <a:solidFill>
                  <a:schemeClr val="bg1"/>
                </a:solidFill>
              </a:rPr>
              <a:t>文本相似度指标能否衡量审计师的主动回应？</a:t>
            </a:r>
          </a:p>
        </p:txBody>
      </p:sp>
    </p:spTree>
    <p:extLst>
      <p:ext uri="{BB962C8B-B14F-4D97-AF65-F5344CB8AC3E}">
        <p14:creationId xmlns:p14="http://schemas.microsoft.com/office/powerpoint/2010/main" val="1890293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a:extLst>
              <a:ext uri="{FF2B5EF4-FFF2-40B4-BE49-F238E27FC236}">
                <a16:creationId xmlns:a16="http://schemas.microsoft.com/office/drawing/2014/main" id="{524DCFC0-965C-9498-1965-A96374C78E53}"/>
              </a:ext>
            </a:extLst>
          </p:cNvPr>
          <p:cNvSpPr txBox="1"/>
          <p:nvPr/>
        </p:nvSpPr>
        <p:spPr>
          <a:xfrm>
            <a:off x="7627976" y="2113729"/>
            <a:ext cx="2634009" cy="646331"/>
          </a:xfrm>
          <a:prstGeom prst="rect">
            <a:avLst/>
          </a:prstGeom>
          <a:solidFill>
            <a:schemeClr val="lt1"/>
          </a:solidFill>
          <a:ln w="317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prstDash val="sysDash"/>
          </a:ln>
        </p:spPr>
        <p:style>
          <a:lnRef idx="2">
            <a:schemeClr val="accent1"/>
          </a:lnRef>
          <a:fillRef idx="1">
            <a:schemeClr val="lt1"/>
          </a:fillRef>
          <a:effectRef idx="0">
            <a:schemeClr val="accent1"/>
          </a:effectRef>
          <a:fontRef idx="minor">
            <a:schemeClr val="dk1"/>
          </a:fontRef>
        </p:style>
        <p:txBody>
          <a:bodyPr wrap="square">
            <a:spAutoFit/>
          </a:bodyPr>
          <a:lstStyle>
            <a:defPPr>
              <a:defRPr lang="zh-CN"/>
            </a:defPPr>
            <a:lvl1pPr algn="ctr"/>
          </a:lstStyle>
          <a:p>
            <a:r>
              <a:rPr lang="zh-CN" altLang="en-US" dirty="0"/>
              <a:t>（</a:t>
            </a:r>
            <a:r>
              <a:rPr lang="en-US" altLang="zh-CN" dirty="0"/>
              <a:t>1</a:t>
            </a:r>
            <a:r>
              <a:rPr lang="zh-CN" altLang="en-US" dirty="0"/>
              <a:t>）股价崩盘风险</a:t>
            </a:r>
            <a:endParaRPr lang="en-US" altLang="zh-CN" dirty="0"/>
          </a:p>
          <a:p>
            <a:pPr algn="l"/>
            <a:r>
              <a:rPr lang="zh-CN" altLang="en-US" dirty="0"/>
              <a:t>（</a:t>
            </a:r>
            <a:r>
              <a:rPr lang="en-US" altLang="zh-CN" dirty="0"/>
              <a:t>2</a:t>
            </a:r>
            <a:r>
              <a:rPr lang="zh-CN" altLang="en-US" dirty="0"/>
              <a:t>）内幕交易的可能性</a:t>
            </a:r>
          </a:p>
        </p:txBody>
      </p:sp>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一些困惑</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CBE9C28-21AF-88F3-5FDB-E820472F5C15}"/>
              </a:ext>
            </a:extLst>
          </p:cNvPr>
          <p:cNvSpPr/>
          <p:nvPr/>
        </p:nvSpPr>
        <p:spPr>
          <a:xfrm>
            <a:off x="750277" y="674510"/>
            <a:ext cx="10183446" cy="417270"/>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dirty="0">
                <a:solidFill>
                  <a:schemeClr val="bg1"/>
                </a:solidFill>
              </a:rPr>
              <a:t>3. </a:t>
            </a:r>
            <a:r>
              <a:rPr lang="zh-CN" altLang="en-US" dirty="0">
                <a:solidFill>
                  <a:schemeClr val="bg1"/>
                </a:solidFill>
              </a:rPr>
              <a:t>本文是否存在不同“信息不对称” 的混用</a:t>
            </a:r>
            <a:r>
              <a:rPr lang="zh-CN" altLang="en-US" b="1" dirty="0">
                <a:solidFill>
                  <a:schemeClr val="bg1"/>
                </a:solidFill>
              </a:rPr>
              <a:t>？</a:t>
            </a:r>
          </a:p>
        </p:txBody>
      </p:sp>
      <p:sp>
        <p:nvSpPr>
          <p:cNvPr id="23" name="文本框 22">
            <a:extLst>
              <a:ext uri="{FF2B5EF4-FFF2-40B4-BE49-F238E27FC236}">
                <a16:creationId xmlns:a16="http://schemas.microsoft.com/office/drawing/2014/main" id="{F90F2024-AAF7-F54C-5F51-88C8586C80DD}"/>
              </a:ext>
            </a:extLst>
          </p:cNvPr>
          <p:cNvSpPr txBox="1"/>
          <p:nvPr/>
        </p:nvSpPr>
        <p:spPr>
          <a:xfrm>
            <a:off x="4712805" y="1612360"/>
            <a:ext cx="2258389" cy="403316"/>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审计师回应</a:t>
            </a:r>
          </a:p>
        </p:txBody>
      </p:sp>
      <p:sp>
        <p:nvSpPr>
          <p:cNvPr id="25" name="文本框 24">
            <a:extLst>
              <a:ext uri="{FF2B5EF4-FFF2-40B4-BE49-F238E27FC236}">
                <a16:creationId xmlns:a16="http://schemas.microsoft.com/office/drawing/2014/main" id="{E4C27086-2656-67F9-78A0-8C20E6B349DE}"/>
              </a:ext>
            </a:extLst>
          </p:cNvPr>
          <p:cNvSpPr txBox="1"/>
          <p:nvPr/>
        </p:nvSpPr>
        <p:spPr>
          <a:xfrm>
            <a:off x="1497700" y="1612360"/>
            <a:ext cx="2258389" cy="403316"/>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投资者信息需求</a:t>
            </a:r>
          </a:p>
        </p:txBody>
      </p:sp>
      <p:sp>
        <p:nvSpPr>
          <p:cNvPr id="27" name="文本框 26">
            <a:extLst>
              <a:ext uri="{FF2B5EF4-FFF2-40B4-BE49-F238E27FC236}">
                <a16:creationId xmlns:a16="http://schemas.microsoft.com/office/drawing/2014/main" id="{1FDE2947-7700-C294-F39C-4BF176E8FD42}"/>
              </a:ext>
            </a:extLst>
          </p:cNvPr>
          <p:cNvSpPr txBox="1"/>
          <p:nvPr/>
        </p:nvSpPr>
        <p:spPr>
          <a:xfrm>
            <a:off x="2626894" y="3059770"/>
            <a:ext cx="3080660" cy="646331"/>
          </a:xfrm>
          <a:prstGeom prst="rect">
            <a:avLst/>
          </a:prstGeom>
          <a:solidFill>
            <a:srgbClr val="ECD8E9"/>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dirty="0">
                <a:solidFill>
                  <a:srgbClr val="000000"/>
                </a:solidFill>
                <a:latin typeface="Times New Roman" panose="02020603050405020304" pitchFamily="18" charset="0"/>
              </a:rPr>
              <a:t>降级</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投资者</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与</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审计师</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 的信息不对称性程度</a:t>
            </a:r>
            <a:endParaRPr lang="zh-CN" altLang="en-US" dirty="0"/>
          </a:p>
        </p:txBody>
      </p:sp>
      <p:cxnSp>
        <p:nvCxnSpPr>
          <p:cNvPr id="29" name="直接箭头连接符 28">
            <a:extLst>
              <a:ext uri="{FF2B5EF4-FFF2-40B4-BE49-F238E27FC236}">
                <a16:creationId xmlns:a16="http://schemas.microsoft.com/office/drawing/2014/main" id="{5389A264-FE27-2D93-0929-D323F002419C}"/>
              </a:ext>
            </a:extLst>
          </p:cNvPr>
          <p:cNvCxnSpPr>
            <a:cxnSpLocks/>
            <a:stCxn id="25" idx="3"/>
            <a:endCxn id="23" idx="1"/>
          </p:cNvCxnSpPr>
          <p:nvPr/>
        </p:nvCxnSpPr>
        <p:spPr>
          <a:xfrm>
            <a:off x="3756089" y="1814018"/>
            <a:ext cx="956716" cy="0"/>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0203F3C7-A38C-688F-F014-03EA8D017000}"/>
              </a:ext>
            </a:extLst>
          </p:cNvPr>
          <p:cNvSpPr txBox="1"/>
          <p:nvPr/>
        </p:nvSpPr>
        <p:spPr>
          <a:xfrm>
            <a:off x="8225365" y="1612360"/>
            <a:ext cx="1439233" cy="403316"/>
          </a:xfrm>
          <a:prstGeom prst="rect">
            <a:avLst/>
          </a:prstGeom>
          <a:solidFill>
            <a:srgbClr val="ECD8E9">
              <a:alpha val="50000"/>
            </a:srgb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defPPr>
              <a:defRPr lang="zh-CN"/>
            </a:defPPr>
            <a:lvl1pPr algn="ctr">
              <a:lnSpc>
                <a:spcPct val="125000"/>
              </a:lnSpc>
              <a:defRPr>
                <a:solidFill>
                  <a:schemeClr val="tx1"/>
                </a:solidFill>
                <a:latin typeface="Times New Roman" panose="02020603050405020304" pitchFamily="18" charset="0"/>
                <a:ea typeface="楷体" panose="02010609060101010101" pitchFamily="49"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信息不对称</a:t>
            </a:r>
          </a:p>
        </p:txBody>
      </p:sp>
      <p:cxnSp>
        <p:nvCxnSpPr>
          <p:cNvPr id="31" name="直接箭头连接符 30">
            <a:extLst>
              <a:ext uri="{FF2B5EF4-FFF2-40B4-BE49-F238E27FC236}">
                <a16:creationId xmlns:a16="http://schemas.microsoft.com/office/drawing/2014/main" id="{14D9C351-6816-2267-F44C-DC8F3103F23A}"/>
              </a:ext>
            </a:extLst>
          </p:cNvPr>
          <p:cNvCxnSpPr>
            <a:cxnSpLocks/>
            <a:stCxn id="23" idx="3"/>
            <a:endCxn id="30" idx="1"/>
          </p:cNvCxnSpPr>
          <p:nvPr/>
        </p:nvCxnSpPr>
        <p:spPr>
          <a:xfrm>
            <a:off x="6971194" y="1814018"/>
            <a:ext cx="1254171" cy="0"/>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9FA7A7AB-2EA3-0999-5A92-879337F15507}"/>
              </a:ext>
            </a:extLst>
          </p:cNvPr>
          <p:cNvCxnSpPr>
            <a:cxnSpLocks/>
            <a:stCxn id="25" idx="2"/>
            <a:endCxn id="27" idx="0"/>
          </p:cNvCxnSpPr>
          <p:nvPr/>
        </p:nvCxnSpPr>
        <p:spPr>
          <a:xfrm>
            <a:off x="2626895" y="2015676"/>
            <a:ext cx="1540329" cy="1044094"/>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47DF587-9C82-15D0-7F2F-6B73D89450C7}"/>
              </a:ext>
            </a:extLst>
          </p:cNvPr>
          <p:cNvCxnSpPr>
            <a:cxnSpLocks/>
            <a:stCxn id="23" idx="2"/>
            <a:endCxn id="27" idx="0"/>
          </p:cNvCxnSpPr>
          <p:nvPr/>
        </p:nvCxnSpPr>
        <p:spPr>
          <a:xfrm flipH="1">
            <a:off x="4167224" y="2015676"/>
            <a:ext cx="1674776" cy="1044094"/>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38" name="加号 37">
            <a:extLst>
              <a:ext uri="{FF2B5EF4-FFF2-40B4-BE49-F238E27FC236}">
                <a16:creationId xmlns:a16="http://schemas.microsoft.com/office/drawing/2014/main" id="{D872045D-5CE6-3C27-4318-843C00C9BA39}"/>
              </a:ext>
            </a:extLst>
          </p:cNvPr>
          <p:cNvSpPr/>
          <p:nvPr/>
        </p:nvSpPr>
        <p:spPr>
          <a:xfrm>
            <a:off x="3780348" y="1881577"/>
            <a:ext cx="492866" cy="521595"/>
          </a:xfrm>
          <a:prstGeom prst="mathPlus">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Times New Roman" panose="02020603050405020304" pitchFamily="18" charset="0"/>
              <a:ea typeface="楷体" panose="02010609060101010101" pitchFamily="49" charset="-122"/>
            </a:endParaRPr>
          </a:p>
        </p:txBody>
      </p:sp>
      <p:sp>
        <p:nvSpPr>
          <p:cNvPr id="55" name="文本框 54">
            <a:extLst>
              <a:ext uri="{FF2B5EF4-FFF2-40B4-BE49-F238E27FC236}">
                <a16:creationId xmlns:a16="http://schemas.microsoft.com/office/drawing/2014/main" id="{1D46DA6F-7C0B-D515-8E89-F693CCF30866}"/>
              </a:ext>
            </a:extLst>
          </p:cNvPr>
          <p:cNvSpPr txBox="1"/>
          <p:nvPr/>
        </p:nvSpPr>
        <p:spPr>
          <a:xfrm>
            <a:off x="7362670" y="3059771"/>
            <a:ext cx="3164619" cy="646331"/>
          </a:xfrm>
          <a:prstGeom prst="rect">
            <a:avLst/>
          </a:prstGeom>
          <a:solidFill>
            <a:srgbClr val="ECD8E9"/>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dirty="0"/>
              <a:t>衡量</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投资者</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与</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管理层</a:t>
            </a:r>
            <a:r>
              <a:rPr lang="en-US" altLang="zh-CN" dirty="0">
                <a:solidFill>
                  <a:srgbClr val="000000"/>
                </a:solidFill>
                <a:latin typeface="Times New Roman" panose="02020603050405020304" pitchFamily="18" charset="0"/>
              </a:rPr>
              <a:t>】</a:t>
            </a:r>
            <a:r>
              <a:rPr lang="zh-CN" altLang="en-US" dirty="0"/>
              <a:t>之间</a:t>
            </a:r>
            <a:r>
              <a:rPr lang="zh-CN" altLang="en-US" dirty="0">
                <a:solidFill>
                  <a:srgbClr val="000000"/>
                </a:solidFill>
                <a:latin typeface="Times New Roman" panose="02020603050405020304" pitchFamily="18" charset="0"/>
              </a:rPr>
              <a:t>的信息不对称性程度</a:t>
            </a:r>
            <a:endParaRPr lang="zh-CN" altLang="en-US" dirty="0"/>
          </a:p>
        </p:txBody>
      </p:sp>
      <p:cxnSp>
        <p:nvCxnSpPr>
          <p:cNvPr id="63" name="直接箭头连接符 62">
            <a:extLst>
              <a:ext uri="{FF2B5EF4-FFF2-40B4-BE49-F238E27FC236}">
                <a16:creationId xmlns:a16="http://schemas.microsoft.com/office/drawing/2014/main" id="{CD4CBFEE-34E4-DDAA-0CA6-28EB898FB8AB}"/>
              </a:ext>
            </a:extLst>
          </p:cNvPr>
          <p:cNvCxnSpPr>
            <a:cxnSpLocks/>
            <a:stCxn id="27" idx="3"/>
            <a:endCxn id="55" idx="1"/>
          </p:cNvCxnSpPr>
          <p:nvPr/>
        </p:nvCxnSpPr>
        <p:spPr>
          <a:xfrm>
            <a:off x="5707554" y="3382936"/>
            <a:ext cx="1655116" cy="1"/>
          </a:xfrm>
          <a:prstGeom prst="straightConnector1">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021FF435-3EA2-1281-04A6-18A832C5C879}"/>
              </a:ext>
            </a:extLst>
          </p:cNvPr>
          <p:cNvSpPr/>
          <p:nvPr/>
        </p:nvSpPr>
        <p:spPr>
          <a:xfrm>
            <a:off x="6307623" y="2874999"/>
            <a:ext cx="447505" cy="553998"/>
          </a:xfrm>
          <a:prstGeom prst="rect">
            <a:avLst/>
          </a:prstGeom>
          <a:noFill/>
        </p:spPr>
        <p:txBody>
          <a:bodyPr wrap="square" lIns="91440" tIns="45720" rIns="91440" bIns="45720">
            <a:spAutoFit/>
          </a:bodyPr>
          <a:lstStyle/>
          <a:p>
            <a:pPr algn="ctr"/>
            <a:r>
              <a:rPr lang="zh-CN" altLang="en-US" sz="3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rPr>
              <a:t>？</a:t>
            </a:r>
            <a:endParaRPr lang="zh-CN" altLang="en-US" sz="3000" b="0" cap="none" spc="0" dirty="0">
              <a:ln w="0"/>
              <a:solidFill>
                <a:schemeClr val="accent1"/>
              </a:solidFill>
              <a:effectLst>
                <a:outerShdw blurRad="38100" dist="25400" dir="5400000" algn="ctr" rotWithShape="0">
                  <a:srgbClr val="6E747A">
                    <a:alpha val="43000"/>
                  </a:srgbClr>
                </a:outerShdw>
              </a:effectLst>
            </a:endParaRPr>
          </a:p>
        </p:txBody>
      </p:sp>
      <p:sp>
        <p:nvSpPr>
          <p:cNvPr id="104" name="矩形 103">
            <a:extLst>
              <a:ext uri="{FF2B5EF4-FFF2-40B4-BE49-F238E27FC236}">
                <a16:creationId xmlns:a16="http://schemas.microsoft.com/office/drawing/2014/main" id="{3F235458-08A1-20A5-897A-25431614F9B8}"/>
              </a:ext>
            </a:extLst>
          </p:cNvPr>
          <p:cNvSpPr/>
          <p:nvPr/>
        </p:nvSpPr>
        <p:spPr>
          <a:xfrm>
            <a:off x="750277" y="6297497"/>
            <a:ext cx="10241960" cy="41727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dirty="0"/>
              <a:t>建议</a:t>
            </a:r>
            <a:r>
              <a:rPr lang="en-US" altLang="zh-CN" dirty="0"/>
              <a:t>4</a:t>
            </a:r>
            <a:r>
              <a:rPr lang="zh-CN" altLang="en-US" dirty="0"/>
              <a:t>：</a:t>
            </a:r>
            <a:r>
              <a:rPr lang="zh-CN" altLang="en-US" b="1" dirty="0"/>
              <a:t>重新梳理一下全文对于信息不对称的使用，使得逻辑更清晰，方便读者理解</a:t>
            </a:r>
            <a:r>
              <a:rPr lang="zh-CN" altLang="en-US" dirty="0"/>
              <a:t>。</a:t>
            </a:r>
            <a:endParaRPr lang="en-US" altLang="zh-CN" dirty="0"/>
          </a:p>
        </p:txBody>
      </p:sp>
      <p:sp>
        <p:nvSpPr>
          <p:cNvPr id="105" name="矩形 104">
            <a:extLst>
              <a:ext uri="{FF2B5EF4-FFF2-40B4-BE49-F238E27FC236}">
                <a16:creationId xmlns:a16="http://schemas.microsoft.com/office/drawing/2014/main" id="{15EB9F52-094D-3B02-6A23-7A4A0FDCC2B2}"/>
              </a:ext>
            </a:extLst>
          </p:cNvPr>
          <p:cNvSpPr/>
          <p:nvPr/>
        </p:nvSpPr>
        <p:spPr>
          <a:xfrm>
            <a:off x="750277" y="5786252"/>
            <a:ext cx="10241960" cy="41727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dirty="0"/>
              <a:t>建议</a:t>
            </a:r>
            <a:r>
              <a:rPr lang="en-US" altLang="zh-CN" dirty="0"/>
              <a:t>4</a:t>
            </a:r>
            <a:r>
              <a:rPr lang="zh-CN" altLang="en-US" dirty="0"/>
              <a:t>：</a:t>
            </a:r>
            <a:r>
              <a:rPr lang="zh-CN" altLang="en-US" b="1" dirty="0"/>
              <a:t>补充第</a:t>
            </a:r>
            <a:r>
              <a:rPr lang="en-US" altLang="zh-CN" b="1" dirty="0"/>
              <a:t>2</a:t>
            </a:r>
            <a:r>
              <a:rPr lang="zh-CN" altLang="en-US" b="1" dirty="0"/>
              <a:t>个链条的理论分析部分</a:t>
            </a:r>
            <a:r>
              <a:rPr lang="zh-CN" altLang="en-US" dirty="0"/>
              <a:t>。</a:t>
            </a:r>
            <a:endParaRPr lang="en-US" altLang="zh-CN" dirty="0"/>
          </a:p>
        </p:txBody>
      </p:sp>
    </p:spTree>
    <p:extLst>
      <p:ext uri="{BB962C8B-B14F-4D97-AF65-F5344CB8AC3E}">
        <p14:creationId xmlns:p14="http://schemas.microsoft.com/office/powerpoint/2010/main" val="194729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一些小小的建议</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481296A-8B21-05C8-A286-A216E754DE58}"/>
              </a:ext>
            </a:extLst>
          </p:cNvPr>
          <p:cNvSpPr txBox="1"/>
          <p:nvPr/>
        </p:nvSpPr>
        <p:spPr>
          <a:xfrm>
            <a:off x="941293" y="1013669"/>
            <a:ext cx="9847089" cy="2862322"/>
          </a:xfrm>
          <a:prstGeom prst="rect">
            <a:avLst/>
          </a:prstGeom>
          <a:noFill/>
        </p:spPr>
        <p:txBody>
          <a:bodyPr wrap="square">
            <a:spAutoFit/>
          </a:bodyPr>
          <a:lstStyle/>
          <a:p>
            <a:r>
              <a:rPr lang="en-US" altLang="zh-CN" sz="1800" i="0" u="none" strike="noStrike" baseline="0" dirty="0">
                <a:solidFill>
                  <a:srgbClr val="000000"/>
                </a:solidFill>
                <a:latin typeface="Times New Roman" panose="02020603050405020304" pitchFamily="18" charset="0"/>
              </a:rPr>
              <a:t>1.</a:t>
            </a:r>
            <a:r>
              <a:rPr lang="zh-CN" altLang="en-US" sz="1800" i="0" u="none" strike="noStrike" baseline="0" dirty="0">
                <a:solidFill>
                  <a:srgbClr val="000000"/>
                </a:solidFill>
                <a:latin typeface="Times New Roman" panose="02020603050405020304" pitchFamily="18" charset="0"/>
              </a:rPr>
              <a:t>文章中多次引用</a:t>
            </a:r>
            <a:r>
              <a:rPr lang="en-US" altLang="zh-CN" sz="1800" i="0" u="none" strike="noStrike" baseline="0" dirty="0">
                <a:solidFill>
                  <a:srgbClr val="000000"/>
                </a:solidFill>
                <a:latin typeface="Times New Roman" panose="02020603050405020304" pitchFamily="18" charset="0"/>
              </a:rPr>
              <a:t>PCAOB</a:t>
            </a:r>
            <a:r>
              <a:rPr lang="zh-CN" altLang="en-US" dirty="0">
                <a:solidFill>
                  <a:srgbClr val="000000"/>
                </a:solidFill>
                <a:latin typeface="Times New Roman" panose="02020603050405020304" pitchFamily="18" charset="0"/>
              </a:rPr>
              <a:t>，而并非中国证监会、财政部或中国注册会计师协会意见。</a:t>
            </a:r>
            <a:endParaRPr lang="en-US" altLang="zh-CN" dirty="0">
              <a:solidFill>
                <a:srgbClr val="000000"/>
              </a:solidFill>
              <a:latin typeface="Times New Roman" panose="02020603050405020304" pitchFamily="18" charset="0"/>
            </a:endParaRPr>
          </a:p>
          <a:p>
            <a:endParaRPr lang="en-US" altLang="zh-CN" sz="1800" i="0" u="none" strike="noStrike" baseline="0"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2.</a:t>
            </a:r>
            <a:r>
              <a:rPr lang="zh-CN" altLang="en-US" dirty="0">
                <a:solidFill>
                  <a:srgbClr val="000000"/>
                </a:solidFill>
                <a:latin typeface="Times New Roman" panose="02020603050405020304" pitchFamily="18" charset="0"/>
              </a:rPr>
              <a:t>补充为什么研究中国，以及基于中国的研究为什么具有推广性？</a:t>
            </a:r>
            <a:endParaRPr lang="en-US" altLang="zh-CN" dirty="0">
              <a:solidFill>
                <a:srgbClr val="000000"/>
              </a:solidFill>
              <a:latin typeface="Times New Roman" panose="02020603050405020304" pitchFamily="18" charset="0"/>
            </a:endParaRPr>
          </a:p>
          <a:p>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3.</a:t>
            </a:r>
            <a:r>
              <a:rPr lang="zh-CN" altLang="en-US" dirty="0">
                <a:solidFill>
                  <a:srgbClr val="000000"/>
                </a:solidFill>
                <a:latin typeface="Times New Roman" panose="02020603050405020304" pitchFamily="18" charset="0"/>
              </a:rPr>
              <a:t>核心变量是否取了</a:t>
            </a:r>
            <a:r>
              <a:rPr lang="en-US" altLang="zh-CN" dirty="0">
                <a:solidFill>
                  <a:srgbClr val="000000"/>
                </a:solidFill>
                <a:latin typeface="Times New Roman" panose="02020603050405020304" pitchFamily="18" charset="0"/>
              </a:rPr>
              <a:t>%</a:t>
            </a:r>
            <a:r>
              <a:rPr lang="zh-CN" altLang="en-US" dirty="0">
                <a:solidFill>
                  <a:srgbClr val="000000"/>
                </a:solidFill>
                <a:latin typeface="Times New Roman" panose="02020603050405020304" pitchFamily="18" charset="0"/>
              </a:rPr>
              <a:t>，需要说明。</a:t>
            </a:r>
            <a:endParaRPr lang="en-US" altLang="zh-CN" dirty="0">
              <a:solidFill>
                <a:srgbClr val="000000"/>
              </a:solidFill>
              <a:latin typeface="Times New Roman" panose="02020603050405020304" pitchFamily="18" charset="0"/>
            </a:endParaRPr>
          </a:p>
          <a:p>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4.</a:t>
            </a:r>
            <a:r>
              <a:rPr lang="zh-CN" altLang="en-US" dirty="0">
                <a:solidFill>
                  <a:srgbClr val="000000"/>
                </a:solidFill>
                <a:latin typeface="Times New Roman" panose="02020603050405020304" pitchFamily="18" charset="0"/>
              </a:rPr>
              <a:t>存在一些书写错误，如</a:t>
            </a:r>
            <a:r>
              <a:rPr lang="en-US" altLang="zh-CN" dirty="0">
                <a:solidFill>
                  <a:srgbClr val="000000"/>
                </a:solidFill>
                <a:latin typeface="Times New Roman" panose="02020603050405020304" pitchFamily="18" charset="0"/>
              </a:rPr>
              <a:t>exception</a:t>
            </a:r>
            <a:r>
              <a:rPr lang="zh-CN" altLang="en-US" dirty="0">
                <a:solidFill>
                  <a:srgbClr val="000000"/>
                </a:solidFill>
                <a:latin typeface="Times New Roman" panose="02020603050405020304" pitchFamily="18" charset="0"/>
              </a:rPr>
              <a:t>与</a:t>
            </a:r>
            <a:r>
              <a:rPr lang="en-US" altLang="zh-CN" dirty="0">
                <a:solidFill>
                  <a:srgbClr val="000000"/>
                </a:solidFill>
                <a:latin typeface="Times New Roman" panose="02020603050405020304" pitchFamily="18" charset="0"/>
              </a:rPr>
              <a:t>expectation</a:t>
            </a:r>
            <a:r>
              <a:rPr lang="zh-CN" altLang="en-US" dirty="0">
                <a:solidFill>
                  <a:srgbClr val="000000"/>
                </a:solidFill>
                <a:latin typeface="Times New Roman" panose="02020603050405020304" pitchFamily="18" charset="0"/>
              </a:rPr>
              <a:t>的混用</a:t>
            </a:r>
            <a:r>
              <a:rPr lang="zh-CN" altLang="en-US" dirty="0"/>
              <a:t>。</a:t>
            </a:r>
            <a:endParaRPr lang="en-US" altLang="zh-CN" dirty="0">
              <a:solidFill>
                <a:srgbClr val="000000"/>
              </a:solidFill>
              <a:latin typeface="Times New Roman" panose="02020603050405020304" pitchFamily="18" charset="0"/>
            </a:endParaRPr>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327418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3B9948-033D-BEB7-A9E6-D160E25C1BF8}"/>
              </a:ext>
            </a:extLst>
          </p:cNvPr>
          <p:cNvSpPr>
            <a:spLocks noGrp="1"/>
          </p:cNvSpPr>
          <p:nvPr>
            <p:ph type="title"/>
          </p:nvPr>
        </p:nvSpPr>
        <p:spPr>
          <a:xfrm>
            <a:off x="0" y="74650"/>
            <a:ext cx="12191999" cy="443106"/>
          </a:xfrm>
        </p:spPr>
        <p:txBody>
          <a:bodyPr>
            <a:noAutofit/>
          </a:bodyPr>
          <a:lstStyle/>
          <a:p>
            <a:pPr algn="ctr"/>
            <a:r>
              <a:rPr lang="zh-CN" altLang="en-US" sz="2500" b="1" dirty="0">
                <a:latin typeface="Times New Roman" panose="02020603050405020304" pitchFamily="18" charset="0"/>
                <a:ea typeface="楷体" panose="02010609060101010101" pitchFamily="49" charset="-122"/>
                <a:cs typeface="Times New Roman" panose="02020603050405020304" pitchFamily="18" charset="0"/>
              </a:rPr>
              <a:t>总结和建议</a:t>
            </a:r>
          </a:p>
        </p:txBody>
      </p:sp>
      <p:cxnSp>
        <p:nvCxnSpPr>
          <p:cNvPr id="26" name="直接连接符 25">
            <a:extLst>
              <a:ext uri="{FF2B5EF4-FFF2-40B4-BE49-F238E27FC236}">
                <a16:creationId xmlns:a16="http://schemas.microsoft.com/office/drawing/2014/main" id="{707D3CA2-BEF7-59FE-6607-599F7EE285C1}"/>
              </a:ext>
            </a:extLst>
          </p:cNvPr>
          <p:cNvCxnSpPr>
            <a:cxnSpLocks/>
          </p:cNvCxnSpPr>
          <p:nvPr/>
        </p:nvCxnSpPr>
        <p:spPr>
          <a:xfrm>
            <a:off x="0" y="56050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F0AAB839-19CA-BCBE-F166-E0EE41E7B90F}"/>
              </a:ext>
            </a:extLst>
          </p:cNvPr>
          <p:cNvSpPr/>
          <p:nvPr/>
        </p:nvSpPr>
        <p:spPr>
          <a:xfrm>
            <a:off x="2887428" y="5072760"/>
            <a:ext cx="6417141" cy="923330"/>
          </a:xfrm>
          <a:prstGeom prst="rect">
            <a:avLst/>
          </a:prstGeom>
          <a:noFill/>
        </p:spPr>
        <p:txBody>
          <a:bodyPr wrap="none" lIns="91440" tIns="45720" rIns="91440" bIns="45720">
            <a:spAutoFit/>
          </a:bodyPr>
          <a:lstStyle/>
          <a:p>
            <a:pPr algn="ctr"/>
            <a:r>
              <a:rPr lang="zh-CN" altLang="en-US" sz="5400" b="0" cap="none" spc="0" dirty="0">
                <a:ln w="0"/>
                <a:solidFill>
                  <a:schemeClr val="accent1"/>
                </a:solidFill>
                <a:effectLst>
                  <a:outerShdw blurRad="38100" dist="25400" dir="5400000" algn="ctr" rotWithShape="0">
                    <a:srgbClr val="6E747A">
                      <a:alpha val="43000"/>
                    </a:srgbClr>
                  </a:outerShdw>
                </a:effectLst>
              </a:rPr>
              <a:t>预祝本文顺利发表！</a:t>
            </a:r>
          </a:p>
        </p:txBody>
      </p:sp>
    </p:spTree>
    <p:extLst>
      <p:ext uri="{BB962C8B-B14F-4D97-AF65-F5344CB8AC3E}">
        <p14:creationId xmlns:p14="http://schemas.microsoft.com/office/powerpoint/2010/main" val="3683087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8E0CBC9-B8E3-3149-5E74-2E797963771A}"/>
              </a:ext>
            </a:extLst>
          </p:cNvPr>
          <p:cNvSpPr/>
          <p:nvPr/>
        </p:nvSpPr>
        <p:spPr>
          <a:xfrm>
            <a:off x="0" y="1969643"/>
            <a:ext cx="12192000" cy="1323439"/>
          </a:xfrm>
          <a:prstGeom prst="rect">
            <a:avLst/>
          </a:prstGeom>
          <a:noFill/>
        </p:spPr>
        <p:txBody>
          <a:bodyPr wrap="square" lIns="91440" tIns="45720" rIns="91440" bIns="45720">
            <a:spAutoFit/>
          </a:bodyPr>
          <a:lstStyle/>
          <a:p>
            <a:pPr algn="ctr"/>
            <a:r>
              <a:rPr lang="zh-CN" altLang="en-US" sz="8000" b="1" cap="none" spc="0" dirty="0">
                <a:ln w="22225">
                  <a:solidFill>
                    <a:srgbClr val="990099"/>
                  </a:solidFill>
                  <a:prstDash val="solid"/>
                </a:ln>
                <a:solidFill>
                  <a:srgbClr val="990099"/>
                </a:solidFill>
                <a:effectLst/>
              </a:rPr>
              <a:t>感谢垂听</a:t>
            </a:r>
          </a:p>
        </p:txBody>
      </p:sp>
      <p:sp>
        <p:nvSpPr>
          <p:cNvPr id="9" name="文本框 8">
            <a:extLst>
              <a:ext uri="{FF2B5EF4-FFF2-40B4-BE49-F238E27FC236}">
                <a16:creationId xmlns:a16="http://schemas.microsoft.com/office/drawing/2014/main" id="{35368A6F-03D9-248F-F84C-CAF849BEE109}"/>
              </a:ext>
            </a:extLst>
          </p:cNvPr>
          <p:cNvSpPr txBox="1"/>
          <p:nvPr/>
        </p:nvSpPr>
        <p:spPr>
          <a:xfrm>
            <a:off x="0" y="5021850"/>
            <a:ext cx="12192000" cy="540750"/>
          </a:xfrm>
          <a:prstGeom prst="rect">
            <a:avLst/>
          </a:prstGeom>
          <a:noFill/>
        </p:spPr>
        <p:txBody>
          <a:bodyPr wrap="square">
            <a:spAutoFit/>
          </a:bodyPr>
          <a:lstStyle/>
          <a:p>
            <a:pPr algn="ctr">
              <a:lnSpc>
                <a:spcPct val="125000"/>
              </a:lnSpc>
            </a:pP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汇报人</a:t>
            </a: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梁庆林       日期</a:t>
            </a:r>
            <a:r>
              <a:rPr lang="en-US" altLang="zh-CN" sz="25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2024.05.31</a:t>
            </a:r>
            <a:endParaRPr lang="zh-CN" altLang="en-US" sz="25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461602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912C8D"/>
      </a:accent1>
      <a:accent2>
        <a:srgbClr val="7561D6"/>
      </a:accent2>
      <a:accent3>
        <a:srgbClr val="68A4C6"/>
      </a:accent3>
      <a:accent4>
        <a:srgbClr val="6A69B6"/>
      </a:accent4>
      <a:accent5>
        <a:srgbClr val="5199EA"/>
      </a:accent5>
      <a:accent6>
        <a:srgbClr val="5B84D8"/>
      </a:accent6>
      <a:hlink>
        <a:srgbClr val="0563C1"/>
      </a:hlink>
      <a:folHlink>
        <a:srgbClr val="954F72"/>
      </a:folHlink>
    </a:clrScheme>
    <a:fontScheme name="font">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912C8D"/>
    </a:accent1>
    <a:accent2>
      <a:srgbClr val="7561D6"/>
    </a:accent2>
    <a:accent3>
      <a:srgbClr val="68A4C6"/>
    </a:accent3>
    <a:accent4>
      <a:srgbClr val="6A69B6"/>
    </a:accent4>
    <a:accent5>
      <a:srgbClr val="5199EA"/>
    </a:accent5>
    <a:accent6>
      <a:srgbClr val="5B84D8"/>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912C8D"/>
    </a:accent1>
    <a:accent2>
      <a:srgbClr val="7561D6"/>
    </a:accent2>
    <a:accent3>
      <a:srgbClr val="68A4C6"/>
    </a:accent3>
    <a:accent4>
      <a:srgbClr val="6A69B6"/>
    </a:accent4>
    <a:accent5>
      <a:srgbClr val="5199EA"/>
    </a:accent5>
    <a:accent6>
      <a:srgbClr val="5B84D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9134</TotalTime>
  <Words>1955</Words>
  <Application>Microsoft Office PowerPoint</Application>
  <PresentationFormat>宽屏</PresentationFormat>
  <Paragraphs>153</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等线</vt:lpstr>
      <vt:lpstr>Arial</vt:lpstr>
      <vt:lpstr>Times New Roman</vt:lpstr>
      <vt:lpstr>Office 主题​​</vt:lpstr>
      <vt:lpstr>评论《Tracing Investors ’Mind: The Effects of Disclosing Critical Audit Matters on the Audit Expectation Gap》</vt:lpstr>
      <vt:lpstr>论文回顾</vt:lpstr>
      <vt:lpstr>一些（不成熟的）思考</vt:lpstr>
      <vt:lpstr>一些（不成熟的）思考</vt:lpstr>
      <vt:lpstr>一些困惑</vt:lpstr>
      <vt:lpstr>一些小小的建议</vt:lpstr>
      <vt:lpstr>总结和建议</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China’s Anticorruption Campaign and  Credit Reallocation From SOEs to Non-SOEs </dc:title>
  <dc:creator>庆林 梁</dc:creator>
  <cp:lastModifiedBy>庆林 梁</cp:lastModifiedBy>
  <cp:revision>140</cp:revision>
  <dcterms:created xsi:type="dcterms:W3CDTF">2023-11-10T13:06:58Z</dcterms:created>
  <dcterms:modified xsi:type="dcterms:W3CDTF">2024-05-30T04:36:29Z</dcterms:modified>
</cp:coreProperties>
</file>